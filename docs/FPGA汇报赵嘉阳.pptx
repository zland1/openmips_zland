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71" r:id="rId5"/>
    <p:sldId id="270" r:id="rId6"/>
    <p:sldId id="269" r:id="rId7"/>
    <p:sldId id="272" r:id="rId8"/>
    <p:sldId id="273" r:id="rId9"/>
    <p:sldId id="268" r:id="rId10"/>
    <p:sldId id="274" r:id="rId11"/>
    <p:sldId id="258" r:id="rId12"/>
    <p:sldId id="262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59" r:id="rId21"/>
    <p:sldId id="282" r:id="rId22"/>
    <p:sldId id="263" r:id="rId23"/>
    <p:sldId id="264" r:id="rId24"/>
    <p:sldId id="265" r:id="rId25"/>
    <p:sldId id="283" r:id="rId26"/>
    <p:sldId id="284" r:id="rId27"/>
    <p:sldId id="260" r:id="rId28"/>
    <p:sldId id="267" r:id="rId29"/>
    <p:sldId id="286" r:id="rId30"/>
    <p:sldId id="261" r:id="rId31"/>
    <p:sldId id="287" r:id="rId32"/>
    <p:sldId id="288" r:id="rId33"/>
    <p:sldId id="289" r:id="rId34"/>
    <p:sldId id="290" r:id="rId35"/>
    <p:sldId id="266" r:id="rId3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874CB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4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5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6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7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8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9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0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1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2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3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4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5.xml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76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77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8.xml"/><Relationship Id="rId1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79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0.xml"/><Relationship Id="rId1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81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2.xml"/><Relationship Id="rId1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3.xml"/><Relationship Id="rId1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4.xml"/><Relationship Id="rId1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5.xml"/><Relationship Id="rId1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88.xml"/><Relationship Id="rId3" Type="http://schemas.openxmlformats.org/officeDocument/2006/relationships/image" Target="../media/image28.png"/><Relationship Id="rId2" Type="http://schemas.openxmlformats.org/officeDocument/2006/relationships/tags" Target="../tags/tag87.xml"/><Relationship Id="rId1" Type="http://schemas.openxmlformats.org/officeDocument/2006/relationships/tags" Target="../tags/tag8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9.xml"/><Relationship Id="rId1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92.xml"/><Relationship Id="rId3" Type="http://schemas.openxmlformats.org/officeDocument/2006/relationships/image" Target="../media/image30.png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tags" Target="../tags/tag9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tags" Target="../tags/tag96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98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99.xml"/><Relationship Id="rId2" Type="http://schemas.openxmlformats.org/officeDocument/2006/relationships/image" Target="../media/image36.jpeg"/><Relationship Id="rId1" Type="http://schemas.openxmlformats.org/officeDocument/2006/relationships/image" Target="../media/image3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00.xml"/><Relationship Id="rId1" Type="http://schemas.openxmlformats.org/officeDocument/2006/relationships/image" Target="../media/image37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101.xml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02.xml"/><Relationship Id="rId1" Type="http://schemas.openxmlformats.org/officeDocument/2006/relationships/image" Target="../media/image40.pn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103.xml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352550" y="1524000"/>
            <a:ext cx="565023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/>
              <a:t>FPGA</a:t>
            </a:r>
            <a:r>
              <a:rPr lang="zh-CN" altLang="en-US" sz="4000"/>
              <a:t>模型机设计大赛</a:t>
            </a:r>
            <a:endParaRPr lang="zh-CN" altLang="en-US" sz="4000"/>
          </a:p>
        </p:txBody>
      </p:sp>
      <p:sp>
        <p:nvSpPr>
          <p:cNvPr id="5" name="文本框 4"/>
          <p:cNvSpPr txBox="1"/>
          <p:nvPr/>
        </p:nvSpPr>
        <p:spPr>
          <a:xfrm>
            <a:off x="2338070" y="2391410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zh-CN" altLang="en-US" sz="2000"/>
              <a:t>小组设计汇报</a:t>
            </a:r>
            <a:endParaRPr lang="zh-CN" altLang="en-US" sz="2000"/>
          </a:p>
        </p:txBody>
      </p:sp>
      <p:sp>
        <p:nvSpPr>
          <p:cNvPr id="6" name="文本框 5"/>
          <p:cNvSpPr txBox="1"/>
          <p:nvPr/>
        </p:nvSpPr>
        <p:spPr>
          <a:xfrm>
            <a:off x="6470650" y="434657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计科</a:t>
            </a:r>
            <a:r>
              <a:rPr lang="en-US" altLang="zh-CN" sz="2000"/>
              <a:t>2303</a:t>
            </a:r>
            <a:r>
              <a:rPr lang="zh-CN" altLang="en-US" sz="2000"/>
              <a:t>第四组</a:t>
            </a:r>
            <a:endParaRPr lang="zh-CN" altLang="en-US" sz="2000"/>
          </a:p>
        </p:txBody>
      </p:sp>
      <p:sp>
        <p:nvSpPr>
          <p:cNvPr id="7" name="文本框 6"/>
          <p:cNvSpPr txBox="1"/>
          <p:nvPr/>
        </p:nvSpPr>
        <p:spPr>
          <a:xfrm>
            <a:off x="6470650" y="4714875"/>
            <a:ext cx="47421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赵嘉阳、张雨帆、韩毅飞</a:t>
            </a:r>
            <a:endParaRPr lang="zh-CN" altLang="en-US" sz="280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36880" y="486728"/>
            <a:ext cx="5080000" cy="645160"/>
          </a:xfrm>
          <a:prstGeom prst="rect">
            <a:avLst/>
          </a:prstGeom>
        </p:spPr>
        <p:txBody>
          <a:bodyPr>
            <a:spAutoFit/>
          </a:bodyPr>
          <a:p>
            <a:pPr marL="0" indent="408305" algn="just" defTabSz="266700" fontAlgn="base" latinLnBrk="1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latin typeface="Times New Roman" panose="02020603050405020304"/>
                <a:ea typeface="宋体" panose="02010600030101010101" pitchFamily="2" charset="-122"/>
              </a:rPr>
              <a:t>设计流程</a:t>
            </a:r>
            <a:endParaRPr lang="zh-CN" altLang="en-US" sz="3600" b="1">
              <a:latin typeface="Times New Roman" panose="02020603050405020304"/>
              <a:ea typeface="宋体" panose="02010600030101010101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855" y="1376680"/>
            <a:ext cx="9696450" cy="503872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579235" y="763905"/>
            <a:ext cx="4551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1.1</a:t>
            </a:r>
            <a:r>
              <a:rPr lang="zh-CN" altLang="en-US"/>
              <a:t>、主线依据五级流水，从</a:t>
            </a:r>
            <a:r>
              <a:rPr lang="en-US" altLang="zh-CN"/>
              <a:t>20</a:t>
            </a:r>
            <a:r>
              <a:rPr lang="zh-CN" altLang="en-US"/>
              <a:t>条开始扩展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36880" y="486728"/>
            <a:ext cx="5080000" cy="645160"/>
          </a:xfrm>
          <a:prstGeom prst="rect">
            <a:avLst/>
          </a:prstGeom>
        </p:spPr>
        <p:txBody>
          <a:bodyPr>
            <a:spAutoFit/>
          </a:bodyPr>
          <a:p>
            <a:pPr marL="0" indent="408305" algn="just" defTabSz="266700" fontAlgn="base" latinLnBrk="1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latin typeface="Times New Roman" panose="02020603050405020304"/>
                <a:ea typeface="宋体" panose="02010600030101010101" pitchFamily="2" charset="-122"/>
              </a:rPr>
              <a:t>设计流程</a:t>
            </a:r>
            <a:endParaRPr lang="zh-CN" altLang="en-US" sz="3600" b="1"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558915" y="763905"/>
            <a:ext cx="47034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1.2</a:t>
            </a:r>
            <a:r>
              <a:rPr lang="zh-CN" altLang="en-US"/>
              <a:t>、</a:t>
            </a:r>
            <a:r>
              <a:rPr lang="zh-CN"/>
              <a:t>同步解决数据相关</a:t>
            </a:r>
            <a:endParaRPr 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7085" y="1698625"/>
            <a:ext cx="7517765" cy="412178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8529320" y="3566795"/>
            <a:ext cx="233680" cy="1442720"/>
          </a:xfrm>
          <a:prstGeom prst="rect">
            <a:avLst/>
          </a:prstGeom>
          <a:solidFill>
            <a:schemeClr val="accent1">
              <a:alpha val="47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 rot="16200000">
            <a:off x="7061200" y="3541395"/>
            <a:ext cx="162560" cy="2773680"/>
          </a:xfrm>
          <a:prstGeom prst="rect">
            <a:avLst/>
          </a:prstGeom>
          <a:solidFill>
            <a:schemeClr val="accent1">
              <a:alpha val="47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5755640" y="2744470"/>
            <a:ext cx="233680" cy="2102485"/>
          </a:xfrm>
          <a:prstGeom prst="rect">
            <a:avLst/>
          </a:prstGeom>
          <a:solidFill>
            <a:schemeClr val="accent1">
              <a:alpha val="47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579235" y="395605"/>
            <a:ext cx="4551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1.1</a:t>
            </a:r>
            <a:r>
              <a:rPr lang="zh-CN" altLang="en-US"/>
              <a:t>、主线依据五级流水，从</a:t>
            </a:r>
            <a:r>
              <a:rPr lang="en-US" altLang="zh-CN"/>
              <a:t>20</a:t>
            </a:r>
            <a:r>
              <a:rPr lang="zh-CN" altLang="en-US"/>
              <a:t>条开始扩展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36880" y="486728"/>
            <a:ext cx="5080000" cy="645160"/>
          </a:xfrm>
          <a:prstGeom prst="rect">
            <a:avLst/>
          </a:prstGeom>
        </p:spPr>
        <p:txBody>
          <a:bodyPr>
            <a:spAutoFit/>
          </a:bodyPr>
          <a:p>
            <a:pPr marL="0" indent="408305" algn="just" defTabSz="266700" fontAlgn="base" latinLnBrk="1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latin typeface="Times New Roman" panose="02020603050405020304"/>
                <a:ea typeface="宋体" panose="02010600030101010101" pitchFamily="2" charset="-122"/>
              </a:rPr>
              <a:t>设计流程</a:t>
            </a:r>
            <a:endParaRPr lang="zh-CN" altLang="en-US" sz="3600" b="1"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812280" y="3530600"/>
            <a:ext cx="233680" cy="1442720"/>
          </a:xfrm>
          <a:prstGeom prst="rect">
            <a:avLst/>
          </a:prstGeom>
          <a:solidFill>
            <a:schemeClr val="accent1">
              <a:alpha val="47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 rot="16200000">
            <a:off x="5344160" y="3505200"/>
            <a:ext cx="162560" cy="2773680"/>
          </a:xfrm>
          <a:prstGeom prst="rect">
            <a:avLst/>
          </a:prstGeom>
          <a:solidFill>
            <a:schemeClr val="accent1">
              <a:alpha val="47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038600" y="2708275"/>
            <a:ext cx="233680" cy="2102485"/>
          </a:xfrm>
          <a:prstGeom prst="rect">
            <a:avLst/>
          </a:prstGeom>
          <a:solidFill>
            <a:schemeClr val="accent1">
              <a:alpha val="47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7020" y="1621790"/>
            <a:ext cx="8772525" cy="44386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558915" y="763905"/>
            <a:ext cx="47034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1.2</a:t>
            </a:r>
            <a:r>
              <a:rPr lang="zh-CN" altLang="en-US"/>
              <a:t>、</a:t>
            </a:r>
            <a:r>
              <a:rPr lang="zh-CN"/>
              <a:t>同步解决数据相关</a:t>
            </a:r>
            <a:endParaRPr lang="zh-CN"/>
          </a:p>
        </p:txBody>
      </p:sp>
      <p:sp>
        <p:nvSpPr>
          <p:cNvPr id="11" name="文本框 10"/>
          <p:cNvSpPr txBox="1"/>
          <p:nvPr/>
        </p:nvSpPr>
        <p:spPr>
          <a:xfrm>
            <a:off x="6579235" y="395605"/>
            <a:ext cx="4551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1.1</a:t>
            </a:r>
            <a:r>
              <a:rPr lang="zh-CN" altLang="en-US"/>
              <a:t>、主线依据五级流水，从</a:t>
            </a:r>
            <a:r>
              <a:rPr lang="en-US" altLang="zh-CN"/>
              <a:t>20</a:t>
            </a:r>
            <a:r>
              <a:rPr lang="zh-CN" altLang="en-US"/>
              <a:t>条开始扩展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36880" y="486728"/>
            <a:ext cx="5080000" cy="645160"/>
          </a:xfrm>
          <a:prstGeom prst="rect">
            <a:avLst/>
          </a:prstGeom>
        </p:spPr>
        <p:txBody>
          <a:bodyPr>
            <a:spAutoFit/>
          </a:bodyPr>
          <a:p>
            <a:pPr marL="0" indent="408305" algn="just" defTabSz="266700" fontAlgn="base" latinLnBrk="1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latin typeface="Times New Roman" panose="02020603050405020304"/>
                <a:ea typeface="宋体" panose="02010600030101010101" pitchFamily="2" charset="-122"/>
              </a:rPr>
              <a:t>设计流程</a:t>
            </a:r>
            <a:endParaRPr lang="zh-CN" altLang="en-US" sz="3600" b="1"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066915" y="987425"/>
            <a:ext cx="4307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2.1</a:t>
            </a:r>
            <a:r>
              <a:rPr lang="zh-CN" altLang="en-US"/>
              <a:t>、</a:t>
            </a:r>
            <a:r>
              <a:rPr lang="zh-CN"/>
              <a:t>实现</a:t>
            </a:r>
            <a:r>
              <a:rPr lang="zh-CN"/>
              <a:t>其余特殊模块，实现后续扩展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8090" y="1445260"/>
            <a:ext cx="9572625" cy="496252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046595" y="619125"/>
            <a:ext cx="47034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1.2</a:t>
            </a:r>
            <a:r>
              <a:rPr lang="zh-CN" altLang="en-US"/>
              <a:t>、</a:t>
            </a:r>
            <a:r>
              <a:rPr lang="zh-CN"/>
              <a:t>同步解决数据相关</a:t>
            </a:r>
            <a:endParaRPr lang="zh-CN"/>
          </a:p>
        </p:txBody>
      </p:sp>
      <p:sp>
        <p:nvSpPr>
          <p:cNvPr id="8" name="文本框 7"/>
          <p:cNvSpPr txBox="1"/>
          <p:nvPr/>
        </p:nvSpPr>
        <p:spPr>
          <a:xfrm>
            <a:off x="7066915" y="250825"/>
            <a:ext cx="4551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1.1</a:t>
            </a:r>
            <a:r>
              <a:rPr lang="zh-CN" altLang="en-US"/>
              <a:t>、主线依据五级流水，从</a:t>
            </a:r>
            <a:r>
              <a:rPr lang="en-US" altLang="zh-CN"/>
              <a:t>20</a:t>
            </a:r>
            <a:r>
              <a:rPr lang="zh-CN" altLang="en-US"/>
              <a:t>条开始扩展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36880" y="486728"/>
            <a:ext cx="5080000" cy="645160"/>
          </a:xfrm>
          <a:prstGeom prst="rect">
            <a:avLst/>
          </a:prstGeom>
        </p:spPr>
        <p:txBody>
          <a:bodyPr>
            <a:spAutoFit/>
          </a:bodyPr>
          <a:p>
            <a:pPr marL="0" indent="408305" algn="just" defTabSz="266700" fontAlgn="base" latinLnBrk="1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latin typeface="Times New Roman" panose="02020603050405020304"/>
                <a:ea typeface="宋体" panose="02010600030101010101" pitchFamily="2" charset="-122"/>
              </a:rPr>
              <a:t>设计流程</a:t>
            </a:r>
            <a:endParaRPr lang="zh-CN" altLang="en-US" sz="3600" b="1"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270115" y="1251585"/>
            <a:ext cx="4307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2.2</a:t>
            </a:r>
            <a:r>
              <a:rPr lang="zh-CN" altLang="en-US"/>
              <a:t>、</a:t>
            </a:r>
            <a:r>
              <a:rPr lang="zh-CN"/>
              <a:t>同步实现数据前推，控制相关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325" y="1844040"/>
            <a:ext cx="10506075" cy="48768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270115" y="883285"/>
            <a:ext cx="4307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2.1</a:t>
            </a:r>
            <a:r>
              <a:rPr lang="zh-CN" altLang="en-US"/>
              <a:t>、</a:t>
            </a:r>
            <a:r>
              <a:rPr lang="zh-CN"/>
              <a:t>实现</a:t>
            </a:r>
            <a:r>
              <a:rPr lang="zh-CN"/>
              <a:t>其余特殊模块，实现后续扩展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249795" y="514985"/>
            <a:ext cx="47034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1.2</a:t>
            </a:r>
            <a:r>
              <a:rPr lang="zh-CN" altLang="en-US"/>
              <a:t>、</a:t>
            </a:r>
            <a:r>
              <a:rPr lang="zh-CN"/>
              <a:t>同步解决数据相关</a:t>
            </a:r>
            <a:endParaRPr lang="zh-CN"/>
          </a:p>
        </p:txBody>
      </p:sp>
      <p:sp>
        <p:nvSpPr>
          <p:cNvPr id="9" name="文本框 8"/>
          <p:cNvSpPr txBox="1"/>
          <p:nvPr/>
        </p:nvSpPr>
        <p:spPr>
          <a:xfrm>
            <a:off x="7270115" y="146685"/>
            <a:ext cx="4551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1.1</a:t>
            </a:r>
            <a:r>
              <a:rPr lang="zh-CN" altLang="en-US"/>
              <a:t>、主线依据五级流水，从</a:t>
            </a:r>
            <a:r>
              <a:rPr lang="en-US" altLang="zh-CN"/>
              <a:t>20</a:t>
            </a:r>
            <a:r>
              <a:rPr lang="zh-CN" altLang="en-US"/>
              <a:t>条开始扩展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36880" y="486728"/>
            <a:ext cx="5080000" cy="645160"/>
          </a:xfrm>
          <a:prstGeom prst="rect">
            <a:avLst/>
          </a:prstGeom>
        </p:spPr>
        <p:txBody>
          <a:bodyPr>
            <a:spAutoFit/>
          </a:bodyPr>
          <a:p>
            <a:pPr marL="0" indent="408305" algn="just" defTabSz="266700" fontAlgn="base" latinLnBrk="1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latin typeface="Times New Roman" panose="02020603050405020304"/>
                <a:ea typeface="宋体" panose="02010600030101010101" pitchFamily="2" charset="-122"/>
              </a:rPr>
              <a:t>设计流程</a:t>
            </a:r>
            <a:endParaRPr lang="zh-CN" altLang="en-US" sz="3600" b="1"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661275" y="3040380"/>
            <a:ext cx="4307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</a:t>
            </a:r>
            <a:r>
              <a:rPr lang="zh-CN" altLang="en-US"/>
              <a:t>、</a:t>
            </a:r>
            <a:r>
              <a:rPr lang="en-US" altLang="zh-CN"/>
              <a:t>IO</a:t>
            </a:r>
            <a:r>
              <a:rPr lang="zh-CN" altLang="en-US"/>
              <a:t>设计，下板测试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483475" y="2626360"/>
            <a:ext cx="4307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2.2</a:t>
            </a:r>
            <a:r>
              <a:rPr lang="zh-CN" altLang="en-US"/>
              <a:t>、</a:t>
            </a:r>
            <a:r>
              <a:rPr lang="zh-CN"/>
              <a:t>同步实现数据前推，控制相关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483475" y="2258060"/>
            <a:ext cx="4307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2.1</a:t>
            </a:r>
            <a:r>
              <a:rPr lang="zh-CN" altLang="en-US"/>
              <a:t>、</a:t>
            </a:r>
            <a:r>
              <a:rPr lang="zh-CN"/>
              <a:t>实现</a:t>
            </a:r>
            <a:r>
              <a:rPr lang="zh-CN"/>
              <a:t>其余特殊模块，实现后续扩展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463155" y="1889760"/>
            <a:ext cx="47034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1.2</a:t>
            </a:r>
            <a:r>
              <a:rPr lang="zh-CN" altLang="en-US"/>
              <a:t>、</a:t>
            </a:r>
            <a:r>
              <a:rPr lang="zh-CN"/>
              <a:t>同步解决数据相关</a:t>
            </a:r>
            <a:endParaRPr lang="zh-CN"/>
          </a:p>
        </p:txBody>
      </p:sp>
      <p:sp>
        <p:nvSpPr>
          <p:cNvPr id="9" name="文本框 8"/>
          <p:cNvSpPr txBox="1"/>
          <p:nvPr/>
        </p:nvSpPr>
        <p:spPr>
          <a:xfrm>
            <a:off x="7483475" y="1521460"/>
            <a:ext cx="4551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1.1</a:t>
            </a:r>
            <a:r>
              <a:rPr lang="zh-CN" altLang="en-US"/>
              <a:t>、主线依据五级流水，从</a:t>
            </a:r>
            <a:r>
              <a:rPr lang="en-US" altLang="zh-CN"/>
              <a:t>20</a:t>
            </a:r>
            <a:r>
              <a:rPr lang="zh-CN" altLang="en-US"/>
              <a:t>条开始扩展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605" y="2323465"/>
            <a:ext cx="6483350" cy="325564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36880" y="425768"/>
            <a:ext cx="5080000" cy="645160"/>
          </a:xfrm>
          <a:prstGeom prst="rect">
            <a:avLst/>
          </a:prstGeom>
        </p:spPr>
        <p:txBody>
          <a:bodyPr>
            <a:spAutoFit/>
          </a:bodyPr>
          <a:p>
            <a:pPr marL="0" indent="408305" algn="just" defTabSz="266700" fontAlgn="base" latinLnBrk="1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latin typeface="Times New Roman" panose="02020603050405020304"/>
                <a:ea typeface="宋体" panose="02010600030101010101" pitchFamily="2" charset="-122"/>
              </a:rPr>
              <a:t>整体架构</a:t>
            </a:r>
            <a:endParaRPr lang="zh-CN" altLang="en-US" sz="3600" b="1">
              <a:latin typeface="Times New Roman" panose="02020603050405020304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310" y="1132205"/>
            <a:ext cx="11803380" cy="550926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36880" y="425768"/>
            <a:ext cx="5080000" cy="645160"/>
          </a:xfrm>
          <a:prstGeom prst="rect">
            <a:avLst/>
          </a:prstGeom>
        </p:spPr>
        <p:txBody>
          <a:bodyPr>
            <a:spAutoFit/>
          </a:bodyPr>
          <a:p>
            <a:pPr marL="0" indent="408305" algn="just" defTabSz="266700" fontAlgn="base" latinLnBrk="1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latin typeface="Times New Roman" panose="02020603050405020304"/>
                <a:ea typeface="宋体" panose="02010600030101010101" pitchFamily="2" charset="-122"/>
              </a:rPr>
              <a:t>整体架构</a:t>
            </a:r>
            <a:endParaRPr lang="zh-CN" altLang="en-US" sz="3600" b="1">
              <a:latin typeface="Times New Roman" panose="02020603050405020304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4300" y="1071245"/>
            <a:ext cx="8945245" cy="549402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822440" y="7029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IF</a:t>
            </a:r>
            <a:r>
              <a:rPr lang="zh-CN" altLang="en-US"/>
              <a:t>模块集成为</a:t>
            </a:r>
            <a:r>
              <a:rPr lang="en-US" altLang="zh-CN"/>
              <a:t>PC</a:t>
            </a:r>
            <a:r>
              <a:rPr lang="zh-CN" altLang="en-US"/>
              <a:t>寄存器，功能相同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36880" y="486728"/>
            <a:ext cx="5080000" cy="645160"/>
          </a:xfrm>
          <a:prstGeom prst="rect">
            <a:avLst/>
          </a:prstGeom>
        </p:spPr>
        <p:txBody>
          <a:bodyPr>
            <a:spAutoFit/>
          </a:bodyPr>
          <a:p>
            <a:pPr marL="0" indent="408305" algn="just" defTabSz="266700" fontAlgn="base" latinLnBrk="1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latin typeface="Times New Roman" panose="02020603050405020304"/>
                <a:ea typeface="宋体" panose="02010600030101010101" pitchFamily="2" charset="-122"/>
              </a:rPr>
              <a:t>核心模块</a:t>
            </a:r>
            <a:endParaRPr lang="zh-CN" altLang="en-US" sz="3600" b="1"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0" y="2351405"/>
            <a:ext cx="3495040" cy="2799715"/>
          </a:xfrm>
          <a:prstGeom prst="rect">
            <a:avLst/>
          </a:prstGeom>
        </p:spPr>
        <p:txBody>
          <a:bodyPr wrap="square">
            <a:spAutoFit/>
          </a:bodyPr>
          <a:p>
            <a:pPr marL="685800" indent="-228600" algn="l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Symbol" panose="05050102010706020507"/>
              <a:buChar char=""/>
              <a:tabLst>
                <a:tab pos="457200" algn="l"/>
              </a:tabLst>
            </a:pPr>
            <a:r>
              <a:rPr lang="en-US" altLang="zh-CN" sz="1600" b="1">
                <a:solidFill>
                  <a:srgbClr val="222222"/>
                </a:solidFill>
                <a:latin typeface="Times New Roman" panose="02020603050405020304"/>
                <a:ea typeface="宋体" panose="02010600030101010101" pitchFamily="2" charset="-122"/>
              </a:rPr>
              <a:t>PC </a:t>
            </a:r>
            <a:r>
              <a:rPr lang="zh-CN" altLang="en-US" sz="1600" b="1">
                <a:solidFill>
                  <a:srgbClr val="2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模块</a:t>
            </a:r>
            <a:r>
              <a:rPr lang="zh-CN" altLang="en-US" sz="1600">
                <a:solidFill>
                  <a:srgbClr val="2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：生成并更新程序计数器，决定下一条指令地址。</a:t>
            </a:r>
            <a:endParaRPr lang="zh-CN" altLang="en-US" sz="1600">
              <a:solidFill>
                <a:srgbClr val="22222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85800" indent="-228600" algn="l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Symbol" panose="05050102010706020507"/>
              <a:buChar char=""/>
              <a:tabLst>
                <a:tab pos="457200" algn="l"/>
              </a:tabLst>
            </a:pPr>
            <a:r>
              <a:rPr lang="en-US" altLang="zh-CN" sz="1600" b="1">
                <a:solidFill>
                  <a:srgbClr val="222222"/>
                </a:solidFill>
                <a:latin typeface="Times New Roman" panose="02020603050405020304"/>
                <a:ea typeface="宋体" panose="02010600030101010101" pitchFamily="2" charset="-122"/>
              </a:rPr>
              <a:t>RegFile </a:t>
            </a:r>
            <a:r>
              <a:rPr lang="zh-CN" altLang="en-US" sz="1600" b="1">
                <a:solidFill>
                  <a:srgbClr val="2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模块</a:t>
            </a:r>
            <a:r>
              <a:rPr lang="zh-CN" altLang="en-US" sz="1600">
                <a:solidFill>
                  <a:srgbClr val="2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：包含</a:t>
            </a:r>
            <a:r>
              <a:rPr lang="zh-CN" altLang="en-US" sz="1600">
                <a:solidFill>
                  <a:srgbClr val="222222"/>
                </a:solidFill>
                <a:latin typeface="Times New Roman" panose="02020603050405020304"/>
                <a:ea typeface="宋体" panose="02010600030101010101" pitchFamily="2" charset="-122"/>
              </a:rPr>
              <a:t> </a:t>
            </a:r>
            <a:r>
              <a:rPr lang="en-US" altLang="zh-CN" sz="1600">
                <a:solidFill>
                  <a:srgbClr val="222222"/>
                </a:solidFill>
                <a:latin typeface="Times New Roman" panose="02020603050405020304"/>
                <a:ea typeface="宋体" panose="02010600030101010101" pitchFamily="2" charset="-122"/>
              </a:rPr>
              <a:t>32 </a:t>
            </a:r>
            <a:r>
              <a:rPr lang="zh-CN" altLang="en-US" sz="1600">
                <a:solidFill>
                  <a:srgbClr val="2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个通用寄存器，支持双读单写，为指令执行提供操作数。</a:t>
            </a:r>
            <a:endParaRPr lang="zh-CN" altLang="en-US" sz="1600">
              <a:solidFill>
                <a:srgbClr val="22222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85800" indent="-228600" algn="l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Symbol" panose="05050102010706020507"/>
              <a:buChar char=""/>
              <a:tabLst>
                <a:tab pos="457200" algn="l"/>
              </a:tabLst>
            </a:pPr>
            <a:r>
              <a:rPr lang="zh-CN" altLang="en-US" sz="1600" b="1">
                <a:solidFill>
                  <a:srgbClr val="2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流水线寄存器</a:t>
            </a:r>
            <a:r>
              <a:rPr lang="zh-CN" altLang="en-US" sz="1600">
                <a:solidFill>
                  <a:srgbClr val="2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：锁存各阶段的中间数据和控制信号，实现阶段隔离与同步。</a:t>
            </a:r>
            <a:endParaRPr lang="zh-CN" altLang="en-US" sz="1600">
              <a:solidFill>
                <a:srgbClr val="22222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85800" indent="-228600" algn="l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Symbol" panose="05050102010706020507"/>
              <a:buChar char=""/>
              <a:tabLst>
                <a:tab pos="457200" algn="l"/>
              </a:tabLst>
            </a:pPr>
            <a:r>
              <a:rPr lang="en-US" altLang="zh-CN" sz="1600" b="1">
                <a:solidFill>
                  <a:srgbClr val="222222"/>
                </a:solidFill>
                <a:latin typeface="Times New Roman" panose="02020603050405020304"/>
                <a:ea typeface="宋体" panose="02010600030101010101" pitchFamily="2" charset="-122"/>
              </a:rPr>
              <a:t>ID/EX/MEM/WB </a:t>
            </a:r>
            <a:r>
              <a:rPr lang="zh-CN" altLang="en-US" sz="1600" b="1">
                <a:solidFill>
                  <a:srgbClr val="2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模块</a:t>
            </a:r>
            <a:r>
              <a:rPr lang="zh-CN" altLang="en-US" sz="1600">
                <a:solidFill>
                  <a:srgbClr val="2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：分别负责指令译码、执行运算、访存操作和结果写回。</a:t>
            </a:r>
            <a:endParaRPr lang="zh-CN" altLang="en-US" sz="1600">
              <a:solidFill>
                <a:srgbClr val="22222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89045" y="487045"/>
            <a:ext cx="7802880" cy="585216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36880" y="486728"/>
            <a:ext cx="5080000" cy="645160"/>
          </a:xfrm>
          <a:prstGeom prst="rect">
            <a:avLst/>
          </a:prstGeom>
        </p:spPr>
        <p:txBody>
          <a:bodyPr>
            <a:spAutoFit/>
          </a:bodyPr>
          <a:p>
            <a:pPr marL="0" indent="408305" algn="just" defTabSz="266700" fontAlgn="base" latinLnBrk="1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latin typeface="Times New Roman" panose="02020603050405020304"/>
                <a:ea typeface="宋体" panose="02010600030101010101" pitchFamily="2" charset="-122"/>
              </a:rPr>
              <a:t>核心模块</a:t>
            </a:r>
            <a:r>
              <a:rPr lang="en-US" altLang="zh-CN" sz="3600" b="1">
                <a:latin typeface="Times New Roman" panose="02020603050405020304"/>
                <a:ea typeface="宋体" panose="02010600030101010101" pitchFamily="2" charset="-122"/>
              </a:rPr>
              <a:t>ID</a:t>
            </a:r>
            <a:r>
              <a:rPr lang="zh-CN" altLang="en-US" sz="3600" b="1">
                <a:latin typeface="Times New Roman" panose="02020603050405020304"/>
                <a:ea typeface="宋体" panose="02010600030101010101" pitchFamily="2" charset="-122"/>
              </a:rPr>
              <a:t>译码</a:t>
            </a:r>
            <a:endParaRPr lang="zh-CN" altLang="en-US" sz="3600" b="1">
              <a:latin typeface="Times New Roman" panose="02020603050405020304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4955" y="1489710"/>
            <a:ext cx="9535160" cy="44672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36880" y="486728"/>
            <a:ext cx="5080000" cy="645160"/>
          </a:xfrm>
          <a:prstGeom prst="rect">
            <a:avLst/>
          </a:prstGeom>
        </p:spPr>
        <p:txBody>
          <a:bodyPr>
            <a:spAutoFit/>
          </a:bodyPr>
          <a:p>
            <a:pPr marL="0" indent="408305" algn="just" defTabSz="266700" fontAlgn="base" latinLnBrk="1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latin typeface="Times New Roman" panose="02020603050405020304"/>
                <a:ea typeface="宋体" panose="02010600030101010101" pitchFamily="2" charset="-122"/>
              </a:rPr>
              <a:t>核心模块</a:t>
            </a:r>
            <a:r>
              <a:rPr lang="en-US" altLang="zh-CN" sz="3600" b="1">
                <a:latin typeface="Times New Roman" panose="02020603050405020304"/>
                <a:ea typeface="宋体" panose="02010600030101010101" pitchFamily="2" charset="-122"/>
              </a:rPr>
              <a:t>ID</a:t>
            </a:r>
            <a:r>
              <a:rPr lang="zh-CN" altLang="en-US" sz="3600" b="1">
                <a:latin typeface="Times New Roman" panose="02020603050405020304"/>
                <a:ea typeface="宋体" panose="02010600030101010101" pitchFamily="2" charset="-122"/>
              </a:rPr>
              <a:t>译码</a:t>
            </a:r>
            <a:endParaRPr lang="zh-CN" altLang="en-US" sz="3600" b="1">
              <a:latin typeface="Times New Roman" panose="02020603050405020304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6285" y="1224280"/>
            <a:ext cx="7893685" cy="521081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244600" y="30835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算术指令译码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36880" y="486728"/>
            <a:ext cx="5080000" cy="645160"/>
          </a:xfrm>
          <a:prstGeom prst="rect">
            <a:avLst/>
          </a:prstGeom>
        </p:spPr>
        <p:txBody>
          <a:bodyPr>
            <a:spAutoFit/>
          </a:bodyPr>
          <a:p>
            <a:pPr marL="0" indent="408305" algn="just" defTabSz="266700" fontAlgn="base" latinLnBrk="1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latin typeface="Times New Roman" panose="02020603050405020304"/>
                <a:ea typeface="宋体" panose="02010600030101010101" pitchFamily="2" charset="-122"/>
              </a:rPr>
              <a:t>核心模块</a:t>
            </a:r>
            <a:r>
              <a:rPr lang="en-US" altLang="zh-CN" sz="3600" b="1">
                <a:latin typeface="Times New Roman" panose="02020603050405020304"/>
                <a:ea typeface="宋体" panose="02010600030101010101" pitchFamily="2" charset="-122"/>
              </a:rPr>
              <a:t>ID</a:t>
            </a:r>
            <a:r>
              <a:rPr lang="zh-CN" altLang="en-US" sz="3600" b="1">
                <a:latin typeface="Times New Roman" panose="02020603050405020304"/>
                <a:ea typeface="宋体" panose="02010600030101010101" pitchFamily="2" charset="-122"/>
              </a:rPr>
              <a:t>译码</a:t>
            </a:r>
            <a:endParaRPr lang="zh-CN" altLang="en-US" sz="3600" b="1">
              <a:latin typeface="Times New Roman" panose="02020603050405020304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4185" y="1576070"/>
            <a:ext cx="9690735" cy="433387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283960" y="7874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中断自陷异常指令译码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36880" y="486728"/>
            <a:ext cx="5080000" cy="645160"/>
          </a:xfrm>
          <a:prstGeom prst="rect">
            <a:avLst/>
          </a:prstGeom>
        </p:spPr>
        <p:txBody>
          <a:bodyPr>
            <a:spAutoFit/>
          </a:bodyPr>
          <a:p>
            <a:pPr marL="0" indent="408305" algn="just" defTabSz="266700" fontAlgn="base" latinLnBrk="1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latin typeface="Times New Roman" panose="02020603050405020304"/>
                <a:ea typeface="宋体" panose="02010600030101010101" pitchFamily="2" charset="-122"/>
              </a:rPr>
              <a:t>核心模块</a:t>
            </a:r>
            <a:r>
              <a:rPr lang="en-US" altLang="zh-CN" sz="3600" b="1">
                <a:latin typeface="Times New Roman" panose="02020603050405020304"/>
                <a:ea typeface="宋体" panose="02010600030101010101" pitchFamily="2" charset="-122"/>
              </a:rPr>
              <a:t>EX</a:t>
            </a:r>
            <a:r>
              <a:rPr lang="zh-CN" altLang="en-US" sz="3600" b="1">
                <a:latin typeface="Times New Roman" panose="02020603050405020304"/>
                <a:ea typeface="宋体" panose="02010600030101010101" pitchFamily="2" charset="-122"/>
              </a:rPr>
              <a:t>执行</a:t>
            </a:r>
            <a:endParaRPr lang="zh-CN" altLang="en-US" sz="3600" b="1">
              <a:latin typeface="Times New Roman" panose="02020603050405020304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1735" y="2855595"/>
            <a:ext cx="3590925" cy="762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9100" y="3533775"/>
            <a:ext cx="5114925" cy="20288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9100" y="1132205"/>
            <a:ext cx="3686175" cy="216217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107440" y="1945640"/>
            <a:ext cx="5080000" cy="429895"/>
          </a:xfrm>
          <a:prstGeom prst="rect">
            <a:avLst/>
          </a:prstGeom>
        </p:spPr>
        <p:txBody>
          <a:bodyPr>
            <a:spAutoFit/>
          </a:bodyPr>
          <a:p>
            <a:pPr marL="0" indent="127000" algn="just" defTabSz="266700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latin typeface="Times New Roman" panose="02020603050405020304"/>
                <a:ea typeface="宋体" panose="02010600030101010101" pitchFamily="2" charset="-122"/>
              </a:rPr>
              <a:t>分类运算</a:t>
            </a:r>
            <a:r>
              <a:rPr lang="en-US" altLang="zh-CN" sz="2000" b="1">
                <a:latin typeface="Times New Roman" panose="02020603050405020304"/>
                <a:ea typeface="Times New Roman" panose="02020603050405020304"/>
              </a:rPr>
              <a:t>+</a:t>
            </a:r>
            <a:r>
              <a:rPr lang="zh-CN" altLang="en-US" sz="2000" b="1">
                <a:latin typeface="Times New Roman" panose="02020603050405020304"/>
                <a:ea typeface="宋体" panose="02010600030101010101" pitchFamily="2" charset="-122"/>
              </a:rPr>
              <a:t>集中管控</a:t>
            </a:r>
            <a:endParaRPr lang="zh-CN" altLang="en-US" sz="2000" b="1">
              <a:latin typeface="Times New Roman" panose="02020603050405020304"/>
              <a:ea typeface="宋体" panose="02010600030101010101" pitchFamily="2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36880" y="486728"/>
            <a:ext cx="5080000" cy="645160"/>
          </a:xfrm>
          <a:prstGeom prst="rect">
            <a:avLst/>
          </a:prstGeom>
        </p:spPr>
        <p:txBody>
          <a:bodyPr>
            <a:spAutoFit/>
          </a:bodyPr>
          <a:p>
            <a:pPr marL="0" indent="408305" algn="just" defTabSz="266700" fontAlgn="base" latinLnBrk="1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latin typeface="Times New Roman" panose="02020603050405020304"/>
                <a:ea typeface="宋体" panose="02010600030101010101" pitchFamily="2" charset="-122"/>
              </a:rPr>
              <a:t>核心模块</a:t>
            </a:r>
            <a:r>
              <a:rPr lang="en-US" altLang="zh-CN" sz="3600" b="1">
                <a:latin typeface="Times New Roman" panose="02020603050405020304"/>
                <a:ea typeface="宋体" panose="02010600030101010101" pitchFamily="2" charset="-122"/>
              </a:rPr>
              <a:t>EX</a:t>
            </a:r>
            <a:r>
              <a:rPr lang="zh-CN" altLang="en-US" sz="3600" b="1">
                <a:latin typeface="Times New Roman" panose="02020603050405020304"/>
                <a:ea typeface="宋体" panose="02010600030101010101" pitchFamily="2" charset="-122"/>
              </a:rPr>
              <a:t>执行</a:t>
            </a:r>
            <a:endParaRPr lang="zh-CN" altLang="en-US" sz="3600" b="1"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80160" y="1252220"/>
            <a:ext cx="5080000" cy="429895"/>
          </a:xfrm>
          <a:prstGeom prst="rect">
            <a:avLst/>
          </a:prstGeom>
        </p:spPr>
        <p:txBody>
          <a:bodyPr>
            <a:spAutoFit/>
          </a:bodyPr>
          <a:p>
            <a:pPr marL="0" indent="127000" algn="just" defTabSz="266700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latin typeface="Times New Roman" panose="02020603050405020304"/>
                <a:ea typeface="宋体" panose="02010600030101010101" pitchFamily="2" charset="-122"/>
              </a:rPr>
              <a:t>分类运算</a:t>
            </a:r>
            <a:endParaRPr lang="zh-CN" altLang="en-US" sz="2000" b="1">
              <a:latin typeface="Times New Roman" panose="02020603050405020304"/>
              <a:ea typeface="宋体" panose="0201060003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02130"/>
            <a:ext cx="3882390" cy="470281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1885" y="1412240"/>
            <a:ext cx="6111240" cy="479488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36880" y="486728"/>
            <a:ext cx="5080000" cy="645160"/>
          </a:xfrm>
          <a:prstGeom prst="rect">
            <a:avLst/>
          </a:prstGeom>
        </p:spPr>
        <p:txBody>
          <a:bodyPr>
            <a:spAutoFit/>
          </a:bodyPr>
          <a:p>
            <a:pPr marL="0" indent="408305" algn="just" defTabSz="266700" fontAlgn="base" latinLnBrk="1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latin typeface="Times New Roman" panose="02020603050405020304"/>
                <a:ea typeface="宋体" panose="02010600030101010101" pitchFamily="2" charset="-122"/>
              </a:rPr>
              <a:t>核心模块</a:t>
            </a:r>
            <a:r>
              <a:rPr lang="en-US" altLang="zh-CN" sz="3600" b="1">
                <a:latin typeface="Times New Roman" panose="02020603050405020304"/>
                <a:ea typeface="宋体" panose="02010600030101010101" pitchFamily="2" charset="-122"/>
              </a:rPr>
              <a:t>EX</a:t>
            </a:r>
            <a:r>
              <a:rPr lang="zh-CN" altLang="en-US" sz="3600" b="1">
                <a:latin typeface="Times New Roman" panose="02020603050405020304"/>
                <a:ea typeface="宋体" panose="02010600030101010101" pitchFamily="2" charset="-122"/>
              </a:rPr>
              <a:t>执行</a:t>
            </a:r>
            <a:endParaRPr lang="zh-CN" altLang="en-US" sz="3600" b="1"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71600" y="2999105"/>
            <a:ext cx="5080000" cy="429895"/>
          </a:xfrm>
          <a:prstGeom prst="rect">
            <a:avLst/>
          </a:prstGeom>
        </p:spPr>
        <p:txBody>
          <a:bodyPr>
            <a:spAutoFit/>
          </a:bodyPr>
          <a:p>
            <a:pPr marL="0" indent="127000" algn="just" defTabSz="266700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latin typeface="Times New Roman" panose="02020603050405020304"/>
                <a:ea typeface="宋体" panose="02010600030101010101" pitchFamily="2" charset="-122"/>
              </a:rPr>
              <a:t>集中管控</a:t>
            </a:r>
            <a:endParaRPr lang="zh-CN" altLang="en-US" sz="2000" b="1">
              <a:latin typeface="Times New Roman" panose="02020603050405020304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0590" y="806450"/>
            <a:ext cx="6782435" cy="56927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36880" y="486728"/>
            <a:ext cx="5080000" cy="645160"/>
          </a:xfrm>
          <a:prstGeom prst="rect">
            <a:avLst/>
          </a:prstGeom>
        </p:spPr>
        <p:txBody>
          <a:bodyPr>
            <a:spAutoFit/>
          </a:bodyPr>
          <a:p>
            <a:pPr marL="0" indent="408305" algn="just" defTabSz="266700" fontAlgn="base" latinLnBrk="1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latin typeface="Times New Roman" panose="02020603050405020304"/>
                <a:ea typeface="宋体" panose="02010600030101010101" pitchFamily="2" charset="-122"/>
              </a:rPr>
              <a:t>核心模块</a:t>
            </a:r>
            <a:r>
              <a:rPr lang="en-US" altLang="zh-CN" sz="3600" b="1">
                <a:latin typeface="Times New Roman" panose="02020603050405020304"/>
                <a:ea typeface="宋体" panose="02010600030101010101" pitchFamily="2" charset="-122"/>
              </a:rPr>
              <a:t>MEM</a:t>
            </a:r>
            <a:r>
              <a:rPr lang="zh-CN" altLang="en-US" sz="3600" b="1">
                <a:latin typeface="Times New Roman" panose="02020603050405020304"/>
                <a:ea typeface="宋体" panose="02010600030101010101" pitchFamily="2" charset="-122"/>
              </a:rPr>
              <a:t>访存</a:t>
            </a:r>
            <a:endParaRPr lang="zh-CN" altLang="en-US" sz="3600" b="1">
              <a:latin typeface="Times New Roman" panose="02020603050405020304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995" y="1858010"/>
            <a:ext cx="5048250" cy="40767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7625" y="2077085"/>
            <a:ext cx="5248275" cy="38576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78840" y="13112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ID</a:t>
            </a:r>
            <a:r>
              <a:rPr lang="zh-CN" altLang="en-US"/>
              <a:t>只负责译码出类型、地址、数值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722745" y="93599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传递给</a:t>
            </a:r>
            <a:r>
              <a:rPr lang="en-US" altLang="zh-CN"/>
              <a:t>MEM</a:t>
            </a:r>
            <a:r>
              <a:rPr lang="zh-CN" altLang="en-US"/>
              <a:t>后进行细节划分，主要原因是</a:t>
            </a:r>
            <a:r>
              <a:rPr lang="en-US" altLang="zh-CN"/>
              <a:t>MIPS</a:t>
            </a:r>
            <a:r>
              <a:rPr lang="zh-CN" altLang="en-US"/>
              <a:t>访存指令可以分字节、半字、字、双字等等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36880" y="486728"/>
            <a:ext cx="5080000" cy="645160"/>
          </a:xfrm>
          <a:prstGeom prst="rect">
            <a:avLst/>
          </a:prstGeom>
        </p:spPr>
        <p:txBody>
          <a:bodyPr>
            <a:spAutoFit/>
          </a:bodyPr>
          <a:p>
            <a:pPr marL="0" indent="408305" algn="just" defTabSz="266700" fontAlgn="base" latinLnBrk="1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latin typeface="Times New Roman" panose="02020603050405020304"/>
                <a:ea typeface="宋体" panose="02010600030101010101" pitchFamily="2" charset="-122"/>
              </a:rPr>
              <a:t>核心模块</a:t>
            </a:r>
            <a:r>
              <a:rPr lang="en-US" altLang="zh-CN" sz="3600" b="1">
                <a:latin typeface="Times New Roman" panose="02020603050405020304"/>
                <a:ea typeface="宋体" panose="02010600030101010101" pitchFamily="2" charset="-122"/>
              </a:rPr>
              <a:t>data_ram</a:t>
            </a:r>
            <a:endParaRPr lang="zh-CN" altLang="en-US" sz="3600" b="1"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306185" y="65151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因为</a:t>
            </a:r>
            <a:r>
              <a:rPr lang="en-US" altLang="zh-CN"/>
              <a:t>MIPS</a:t>
            </a:r>
            <a:r>
              <a:rPr lang="zh-CN" altLang="en-US"/>
              <a:t>访存指令可以分字节、半字、字、双字等等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0835" y="1376045"/>
            <a:ext cx="5854700" cy="491744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828040" y="382524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通过</a:t>
            </a:r>
            <a:r>
              <a:rPr lang="en-US" altLang="zh-CN"/>
              <a:t>MEM</a:t>
            </a:r>
            <a:r>
              <a:rPr lang="zh-CN" altLang="en-US"/>
              <a:t>更细的译码，来确定操作的是哪些字节的存储器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28040" y="225044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按照</a:t>
            </a:r>
            <a:r>
              <a:rPr lang="en-US" altLang="zh-CN"/>
              <a:t>8</a:t>
            </a:r>
            <a:r>
              <a:rPr lang="zh-CN" altLang="en-US"/>
              <a:t>位一个存储器，</a:t>
            </a:r>
            <a:r>
              <a:rPr lang="en-US" altLang="zh-CN"/>
              <a:t>4</a:t>
            </a:r>
            <a:r>
              <a:rPr lang="zh-CN" altLang="en-US"/>
              <a:t>个</a:t>
            </a:r>
            <a:r>
              <a:rPr lang="en-US" altLang="zh-CN"/>
              <a:t>8</a:t>
            </a:r>
            <a:r>
              <a:rPr lang="zh-CN" altLang="en-US"/>
              <a:t>位拼为一个</a:t>
            </a:r>
            <a:r>
              <a:rPr lang="en-US" altLang="zh-CN"/>
              <a:t>32</a:t>
            </a:r>
            <a:r>
              <a:rPr lang="zh-CN" altLang="en-US"/>
              <a:t>位的数存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36880" y="486728"/>
            <a:ext cx="5080000" cy="645160"/>
          </a:xfrm>
          <a:prstGeom prst="rect">
            <a:avLst/>
          </a:prstGeom>
        </p:spPr>
        <p:txBody>
          <a:bodyPr>
            <a:spAutoFit/>
          </a:bodyPr>
          <a:p>
            <a:pPr marL="0" indent="408305" algn="just" defTabSz="266700" fontAlgn="base" latinLnBrk="1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latin typeface="Times New Roman" panose="02020603050405020304"/>
                <a:ea typeface="宋体" panose="02010600030101010101" pitchFamily="2" charset="-122"/>
              </a:rPr>
              <a:t>特殊模块</a:t>
            </a:r>
            <a:r>
              <a:rPr lang="en-US" altLang="zh-CN" sz="3600" b="1">
                <a:latin typeface="Times New Roman" panose="02020603050405020304"/>
                <a:ea typeface="宋体" panose="02010600030101010101" pitchFamily="2" charset="-122"/>
              </a:rPr>
              <a:t>div.v</a:t>
            </a:r>
            <a:r>
              <a:rPr lang="zh-CN" altLang="en-US" sz="3600" b="1">
                <a:latin typeface="Times New Roman" panose="02020603050405020304"/>
                <a:ea typeface="宋体" panose="02010600030101010101" pitchFamily="2" charset="-122"/>
              </a:rPr>
              <a:t>除法器</a:t>
            </a:r>
            <a:endParaRPr lang="zh-CN" altLang="en-US" sz="3600" b="1"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37845" y="1320800"/>
            <a:ext cx="4317365" cy="645160"/>
          </a:xfrm>
          <a:prstGeom prst="rect">
            <a:avLst/>
          </a:prstGeom>
        </p:spPr>
        <p:txBody>
          <a:bodyPr wrap="square">
            <a:spAutoFit/>
          </a:bodyPr>
          <a:p>
            <a:pPr marL="457200" indent="0" algn="l" defTabSz="266700">
              <a:lnSpc>
                <a:spcPts val="1440"/>
              </a:lnSpc>
              <a:spcBef>
                <a:spcPct val="0"/>
              </a:spcBef>
              <a:spcAft>
                <a:spcPct val="0"/>
              </a:spcAft>
              <a:buFont typeface="Symbol" panose="05050102010706020507"/>
              <a:buNone/>
              <a:tabLst>
                <a:tab pos="457200" algn="l"/>
              </a:tabLst>
            </a:pPr>
            <a:r>
              <a:rPr lang="zh-CN" altLang="en-US" sz="1600" b="1">
                <a:solidFill>
                  <a:srgbClr val="2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设计思路</a:t>
            </a:r>
            <a:r>
              <a:rPr lang="zh-CN" altLang="en-US" sz="1600">
                <a:solidFill>
                  <a:srgbClr val="2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：采用多周期实现，通过有限状态机（</a:t>
            </a:r>
            <a:r>
              <a:rPr lang="en-US" altLang="zh-CN" sz="1600">
                <a:solidFill>
                  <a:srgbClr val="222222"/>
                </a:solidFill>
                <a:latin typeface="Times New Roman" panose="02020603050405020304"/>
                <a:ea typeface="宋体" panose="02010600030101010101" pitchFamily="2" charset="-122"/>
              </a:rPr>
              <a:t>FSM</a:t>
            </a:r>
            <a:r>
              <a:rPr lang="zh-CN" altLang="en-US" sz="1600">
                <a:solidFill>
                  <a:srgbClr val="2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）控制运算步骤。通过流水线暂停实现完整的除法运算</a:t>
            </a:r>
            <a:endParaRPr lang="zh-CN" altLang="en-US" sz="1600">
              <a:solidFill>
                <a:srgbClr val="22222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98805" y="203676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408305" algn="just" defTabSz="266700" fontAlgn="base" latinLnBrk="1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2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包含四个状态：</a:t>
            </a:r>
            <a:r>
              <a:rPr lang="zh-CN" altLang="en-US" sz="1600">
                <a:solidFill>
                  <a:srgbClr val="222222"/>
                </a:solidFill>
                <a:latin typeface="Times New Roman" panose="02020603050405020304"/>
                <a:ea typeface="宋体" panose="02010600030101010101" pitchFamily="2" charset="-122"/>
              </a:rPr>
              <a:t>空闲</a:t>
            </a:r>
            <a:r>
              <a:rPr lang="zh-CN" altLang="en-US" sz="1600">
                <a:solidFill>
                  <a:srgbClr val="2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1600">
                <a:solidFill>
                  <a:srgbClr val="222222"/>
                </a:solidFill>
                <a:latin typeface="Times New Roman" panose="02020603050405020304"/>
                <a:ea typeface="宋体" panose="02010600030101010101" pitchFamily="2" charset="-122"/>
              </a:rPr>
              <a:t>工作</a:t>
            </a:r>
            <a:r>
              <a:rPr lang="zh-CN" altLang="en-US" sz="1600">
                <a:solidFill>
                  <a:srgbClr val="2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1600">
                <a:solidFill>
                  <a:srgbClr val="222222"/>
                </a:solidFill>
                <a:latin typeface="Times New Roman" panose="02020603050405020304"/>
                <a:ea typeface="宋体" panose="02010600030101010101" pitchFamily="2" charset="-122"/>
              </a:rPr>
              <a:t>除零</a:t>
            </a:r>
            <a:r>
              <a:rPr lang="zh-CN" altLang="en-US" sz="1600">
                <a:solidFill>
                  <a:srgbClr val="2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、结束</a:t>
            </a:r>
            <a:endParaRPr lang="zh-CN" altLang="en-US" sz="1600">
              <a:solidFill>
                <a:srgbClr val="22222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442710" y="88360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1600"/>
              <a:t>核心算法逻辑：试商法</a:t>
            </a:r>
            <a:endParaRPr lang="zh-CN" altLang="en-US" sz="1600"/>
          </a:p>
        </p:txBody>
      </p:sp>
      <p:pic>
        <p:nvPicPr>
          <p:cNvPr id="11" name="图片 10" descr="9b8d61482bb74a256a0be59fd2327582"/>
          <p:cNvPicPr>
            <a:picLocks noChangeAspect="1"/>
          </p:cNvPicPr>
          <p:nvPr/>
        </p:nvPicPr>
        <p:blipFill>
          <a:blip r:embed="rId1"/>
          <a:srcRect b="9778"/>
          <a:stretch>
            <a:fillRect/>
          </a:stretch>
        </p:blipFill>
        <p:spPr>
          <a:xfrm>
            <a:off x="5678805" y="1584960"/>
            <a:ext cx="6716395" cy="4283075"/>
          </a:xfrm>
          <a:prstGeom prst="rect">
            <a:avLst/>
          </a:prstGeom>
        </p:spPr>
      </p:pic>
      <p:pic>
        <p:nvPicPr>
          <p:cNvPr id="13" name="图片 12" descr="7cbea9e579ae8466a3a674d124c1f062"/>
          <p:cNvPicPr>
            <a:picLocks noChangeAspect="1"/>
          </p:cNvPicPr>
          <p:nvPr/>
        </p:nvPicPr>
        <p:blipFill>
          <a:blip r:embed="rId2"/>
          <a:srcRect r="7772" b="12330"/>
          <a:stretch>
            <a:fillRect/>
          </a:stretch>
        </p:blipFill>
        <p:spPr>
          <a:xfrm>
            <a:off x="0" y="2640965"/>
            <a:ext cx="6200140" cy="336867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36880" y="487045"/>
            <a:ext cx="8046085" cy="6451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408305" algn="just" defTabSz="266700" fontAlgn="base" latinLnBrk="1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latin typeface="Times New Roman" panose="02020603050405020304"/>
                <a:ea typeface="宋体" panose="02010600030101010101" pitchFamily="2" charset="-122"/>
              </a:rPr>
              <a:t>特殊模块</a:t>
            </a:r>
            <a:r>
              <a:rPr lang="en-US" altLang="zh-CN" sz="3600" b="1">
                <a:latin typeface="Times New Roman" panose="02020603050405020304"/>
                <a:ea typeface="宋体" panose="02010600030101010101" pitchFamily="2" charset="-122"/>
              </a:rPr>
              <a:t>div.v&amp;</a:t>
            </a:r>
            <a:r>
              <a:rPr lang="zh-CN" altLang="en-US" sz="3600" b="1">
                <a:latin typeface="Times New Roman" panose="02020603050405020304"/>
                <a:ea typeface="宋体" panose="02010600030101010101" pitchFamily="2" charset="-122"/>
              </a:rPr>
              <a:t>流水线暂停</a:t>
            </a:r>
            <a:endParaRPr lang="zh-CN" altLang="en-US" sz="3600" b="1">
              <a:latin typeface="Times New Roman" panose="02020603050405020304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715" y="1449070"/>
            <a:ext cx="8182610" cy="460565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525000" y="2829560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通过暂停信号</a:t>
            </a:r>
            <a:br>
              <a:rPr lang="zh-CN" altLang="en-US"/>
            </a:br>
            <a:r>
              <a:rPr lang="en-US" altLang="zh-CN"/>
              <a:t>stall[5:0]</a:t>
            </a:r>
            <a:endParaRPr lang="en-US" altLang="zh-CN"/>
          </a:p>
          <a:p>
            <a:r>
              <a:rPr lang="zh-CN" altLang="en-US"/>
              <a:t>可以控制</a:t>
            </a:r>
            <a:r>
              <a:rPr lang="en-US" altLang="zh-CN"/>
              <a:t>PC</a:t>
            </a:r>
            <a:r>
              <a:rPr lang="zh-CN" altLang="en-US"/>
              <a:t>，</a:t>
            </a:r>
            <a:endParaRPr lang="zh-CN" altLang="en-US"/>
          </a:p>
          <a:p>
            <a:r>
              <a:rPr lang="zh-CN" altLang="en-US"/>
              <a:t>以及各级流水线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36880" y="486728"/>
            <a:ext cx="5080000" cy="645160"/>
          </a:xfrm>
          <a:prstGeom prst="rect">
            <a:avLst/>
          </a:prstGeom>
        </p:spPr>
        <p:txBody>
          <a:bodyPr>
            <a:spAutoFit/>
          </a:bodyPr>
          <a:p>
            <a:pPr marL="0" indent="408305" algn="just" defTabSz="266700" fontAlgn="base" latinLnBrk="1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latin typeface="Times New Roman" panose="02020603050405020304"/>
                <a:ea typeface="宋体" panose="02010600030101010101" pitchFamily="2" charset="-122"/>
              </a:rPr>
              <a:t>特殊模块</a:t>
            </a:r>
            <a:endParaRPr lang="zh-CN" altLang="en-US" sz="3600" b="1">
              <a:latin typeface="Times New Roman" panose="02020603050405020304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8520" y="384175"/>
            <a:ext cx="6105525" cy="621982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36880" y="2941320"/>
            <a:ext cx="40640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id_ex</a:t>
            </a:r>
            <a:r>
              <a:rPr lang="zh-CN" altLang="en-US"/>
              <a:t>流水模块中检测左右是否需要被暂停，若需要暂停，则暂时置初始值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以便供除法器模块进行运算以及数据交换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70840" y="23622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eg</a:t>
            </a:r>
            <a:r>
              <a:rPr lang="zh-CN" altLang="en-US"/>
              <a:t>：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36880" y="487045"/>
            <a:ext cx="7284085" cy="6451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408305" algn="just" defTabSz="266700" fontAlgn="base" latinLnBrk="1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latin typeface="Times New Roman" panose="02020603050405020304"/>
                <a:ea typeface="宋体" panose="02010600030101010101" pitchFamily="2" charset="-122"/>
              </a:rPr>
              <a:t>特殊模块</a:t>
            </a:r>
            <a:r>
              <a:rPr lang="en-US" altLang="zh-CN" sz="3600" b="1">
                <a:latin typeface="Times New Roman" panose="02020603050405020304"/>
                <a:ea typeface="宋体" panose="02010600030101010101" pitchFamily="2" charset="-122"/>
              </a:rPr>
              <a:t>LLbit.v</a:t>
            </a:r>
            <a:r>
              <a:rPr lang="zh-CN" altLang="en-US" sz="3600" b="1">
                <a:latin typeface="Times New Roman" panose="02020603050405020304"/>
                <a:ea typeface="宋体" panose="02010600030101010101" pitchFamily="2" charset="-122"/>
              </a:rPr>
              <a:t>原子指令实现</a:t>
            </a:r>
            <a:endParaRPr lang="zh-CN" altLang="en-US" sz="3600" b="1"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951470" y="2157095"/>
            <a:ext cx="3953510" cy="220662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127000" algn="just" defTabSz="266700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b="1">
                <a:latin typeface="Times New Roman" panose="02020603050405020304"/>
                <a:ea typeface="宋体" panose="02010600030101010101" pitchFamily="2" charset="-122"/>
              </a:rPr>
              <a:t>LLbit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寄存器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lang="en-US" altLang="zh-CN">
                <a:latin typeface="Times New Roman" panose="02020603050405020304"/>
                <a:ea typeface="宋体" panose="02010600030101010101" pitchFamily="2" charset="-122"/>
              </a:rPr>
              <a:t>MIPSCPU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专为</a:t>
            </a:r>
            <a:r>
              <a:rPr lang="en-US" altLang="zh-CN">
                <a:latin typeface="Times New Roman" panose="02020603050405020304"/>
                <a:ea typeface="宋体" panose="02010600030101010101" pitchFamily="2" charset="-122"/>
              </a:rPr>
              <a:t>ll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（加载链接）</a:t>
            </a:r>
            <a:r>
              <a:rPr lang="en-US" altLang="zh-CN">
                <a:latin typeface="Times New Roman" panose="02020603050405020304"/>
                <a:ea typeface="宋体" panose="02010600030101010101" pitchFamily="2" charset="-122"/>
              </a:rPr>
              <a:t>/sc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（存储条件）原子指令设计的</a:t>
            </a:r>
            <a:r>
              <a:rPr lang="en-US" altLang="zh-CN">
                <a:latin typeface="Times New Roman" panose="02020603050405020304"/>
                <a:ea typeface="宋体" panose="02010600030101010101" pitchFamily="2" charset="-122"/>
              </a:rPr>
              <a:t>1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位专用状态寄存器。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b="9556"/>
          <a:stretch>
            <a:fillRect/>
          </a:stretch>
        </p:blipFill>
        <p:spPr>
          <a:xfrm>
            <a:off x="593725" y="2272030"/>
            <a:ext cx="7233920" cy="368427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98195" y="1284605"/>
            <a:ext cx="78212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/>
              <a:t>为实现</a:t>
            </a:r>
            <a:r>
              <a:rPr lang="en-US" altLang="zh-CN" sz="1600"/>
              <a:t>II</a:t>
            </a:r>
            <a:r>
              <a:rPr lang="zh-CN" altLang="en-US" sz="1600"/>
              <a:t>、</a:t>
            </a:r>
            <a:r>
              <a:rPr lang="en-US" altLang="zh-CN" sz="1600"/>
              <a:t>sc</a:t>
            </a:r>
            <a:r>
              <a:rPr lang="zh-CN" altLang="en-US" sz="1600"/>
              <a:t>指令，对系统结构新增了一个</a:t>
            </a:r>
            <a:r>
              <a:rPr lang="en-US" altLang="zh-CN" sz="1600"/>
              <a:t>LLbit</a:t>
            </a:r>
            <a:r>
              <a:rPr lang="zh-CN" altLang="en-US" sz="1600"/>
              <a:t>模块，用来实现</a:t>
            </a:r>
            <a:r>
              <a:rPr lang="en-US" altLang="zh-CN" sz="1600"/>
              <a:t>LLbit</a:t>
            </a:r>
            <a:r>
              <a:rPr lang="zh-CN" altLang="en-US" sz="1600"/>
              <a:t>寄存器</a:t>
            </a:r>
            <a:r>
              <a:rPr lang="zh-CN" altLang="en-US"/>
              <a:t>。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068310" y="3300095"/>
            <a:ext cx="40640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原子操作的状态标记功能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:</a:t>
            </a:r>
            <a:b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</a:br>
            <a:b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</a:br>
            <a:r>
              <a:rPr lang="en-US" altLang="zh-CN">
                <a:latin typeface="Times New Roman" panose="02020603050405020304"/>
                <a:ea typeface="宋体" panose="02010600030101010101" pitchFamily="2" charset="-122"/>
                <a:sym typeface="+mn-ea"/>
              </a:rPr>
              <a:t>ll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指令执行时置位</a:t>
            </a:r>
            <a:r>
              <a:rPr lang="en-US" altLang="zh-CN">
                <a:latin typeface="Times New Roman" panose="02020603050405020304"/>
                <a:ea typeface="宋体" panose="02010600030101010101" pitchFamily="2" charset="-122"/>
                <a:sym typeface="+mn-ea"/>
              </a:rPr>
              <a:t>LLbit</a:t>
            </a:r>
            <a:b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</a:br>
            <a:b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</a:br>
            <a:r>
              <a:rPr lang="en-US" altLang="zh-CN">
                <a:latin typeface="Times New Roman" panose="02020603050405020304"/>
                <a:ea typeface="宋体" panose="02010600030101010101" pitchFamily="2" charset="-122"/>
                <a:sym typeface="+mn-ea"/>
              </a:rPr>
              <a:t>sc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指令执行时检测</a:t>
            </a:r>
            <a:r>
              <a:rPr lang="en-US" altLang="zh-CN">
                <a:latin typeface="Times New Roman" panose="02020603050405020304"/>
                <a:ea typeface="宋体" panose="02010600030101010101" pitchFamily="2" charset="-122"/>
                <a:sym typeface="+mn-ea"/>
              </a:rPr>
              <a:t>LLbit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状态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068310" y="5053330"/>
            <a:ext cx="3708400" cy="9029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127000" algn="just" defTabSz="266700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ll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指令执行时置位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LLbit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sc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指令执行时检测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LLbit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状态（仅为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1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时完成存储并清零，否则放弃存储）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36880" y="487045"/>
            <a:ext cx="5810885" cy="6451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408305" algn="just" defTabSz="266700" fontAlgn="base" latinLnBrk="1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latin typeface="Times New Roman" panose="02020603050405020304"/>
                <a:ea typeface="宋体" panose="02010600030101010101" pitchFamily="2" charset="-122"/>
              </a:rPr>
              <a:t>特殊模块</a:t>
            </a:r>
            <a:r>
              <a:rPr lang="en-US" altLang="zh-CN" sz="3600" b="1">
                <a:latin typeface="Times New Roman" panose="02020603050405020304"/>
                <a:ea typeface="宋体" panose="02010600030101010101" pitchFamily="2" charset="-122"/>
              </a:rPr>
              <a:t>CP0</a:t>
            </a:r>
            <a:r>
              <a:rPr lang="zh-CN" altLang="en-US" sz="3600" b="1">
                <a:latin typeface="Times New Roman" panose="02020603050405020304"/>
                <a:ea typeface="宋体" panose="02010600030101010101" pitchFamily="2" charset="-122"/>
              </a:rPr>
              <a:t>协处理器</a:t>
            </a:r>
            <a:endParaRPr lang="zh-CN" altLang="en-US" sz="3600" b="1">
              <a:latin typeface="Times New Roman" panose="02020603050405020304"/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b="10705"/>
          <a:stretch>
            <a:fillRect/>
          </a:stretch>
        </p:blipFill>
        <p:spPr>
          <a:xfrm>
            <a:off x="5516880" y="1132205"/>
            <a:ext cx="6306820" cy="398335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28320" y="1532890"/>
            <a:ext cx="4780915" cy="1014730"/>
          </a:xfrm>
          <a:prstGeom prst="rect">
            <a:avLst/>
          </a:prstGeom>
        </p:spPr>
        <p:txBody>
          <a:bodyPr wrap="square">
            <a:spAutoFit/>
          </a:bodyPr>
          <a:p>
            <a:pPr marL="457200" indent="0" algn="l" defTabSz="266700" fontAlgn="base" latinLnBrk="1">
              <a:lnSpc>
                <a:spcPts val="1440"/>
              </a:lnSpc>
              <a:spcBef>
                <a:spcPct val="0"/>
              </a:spcBef>
              <a:spcAft>
                <a:spcPct val="0"/>
              </a:spcAft>
              <a:buFont typeface="Symbol" panose="05050102010706020507"/>
              <a:buNone/>
              <a:tabLst>
                <a:tab pos="457200" algn="l"/>
              </a:tabLst>
            </a:pPr>
            <a:r>
              <a:rPr lang="en-US" altLang="zh-CN" sz="2000" b="1">
                <a:solidFill>
                  <a:srgbClr val="2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CP0</a:t>
            </a:r>
            <a:r>
              <a:rPr lang="zh-CN" altLang="en-US" sz="2000" b="1">
                <a:solidFill>
                  <a:srgbClr val="2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协处理器</a:t>
            </a:r>
            <a:r>
              <a:rPr lang="zh-CN" altLang="en-US" sz="1600">
                <a:solidFill>
                  <a:srgbClr val="2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br>
              <a:rPr lang="zh-CN" altLang="en-US" sz="1600">
                <a:solidFill>
                  <a:srgbClr val="2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br>
              <a:rPr lang="zh-CN" altLang="en-US" sz="1600">
                <a:solidFill>
                  <a:srgbClr val="2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1600">
                <a:solidFill>
                  <a:srgbClr val="2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CP0</a:t>
            </a:r>
            <a:r>
              <a:rPr lang="zh-CN" altLang="en-US" sz="1600">
                <a:solidFill>
                  <a:srgbClr val="2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寄存器（协处理器</a:t>
            </a:r>
            <a:r>
              <a:rPr lang="en-US" altLang="zh-CN" sz="1600">
                <a:solidFill>
                  <a:srgbClr val="2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1600">
                <a:solidFill>
                  <a:srgbClr val="2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）是</a:t>
            </a:r>
            <a:r>
              <a:rPr lang="en-US" altLang="zh-CN" sz="1600">
                <a:solidFill>
                  <a:srgbClr val="2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MIPSCPU</a:t>
            </a:r>
            <a:r>
              <a:rPr lang="zh-CN" altLang="en-US" sz="1600">
                <a:solidFill>
                  <a:srgbClr val="2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处理异常、中断、系统调用的核心控制模块，作为</a:t>
            </a:r>
            <a:r>
              <a:rPr lang="en-US" altLang="zh-CN" sz="1600">
                <a:solidFill>
                  <a:srgbClr val="2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CPU</a:t>
            </a:r>
            <a:r>
              <a:rPr lang="zh-CN" altLang="en-US" sz="1600">
                <a:solidFill>
                  <a:srgbClr val="2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en-US" altLang="zh-CN" sz="1600">
                <a:solidFill>
                  <a:srgbClr val="2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1600">
                <a:solidFill>
                  <a:srgbClr val="2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系统管控中枢</a:t>
            </a:r>
            <a:r>
              <a:rPr lang="en-US" altLang="zh-CN" sz="1600">
                <a:solidFill>
                  <a:srgbClr val="2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sz="1600">
                <a:solidFill>
                  <a:srgbClr val="2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1600">
              <a:solidFill>
                <a:srgbClr val="22222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37260" y="2948305"/>
            <a:ext cx="4114800" cy="27971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127000" algn="just" defTabSz="266700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异常自动标记与处理逻辑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：接收流水线传入的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excepttype_i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异常类型，自动完成异常的分级处理</a:t>
            </a:r>
            <a:endParaRPr lang="en-US" altLang="zh-CN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127000" algn="just" defTabSz="266700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中断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/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系统调用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/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无效指令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/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陷阱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/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溢出等异常发生时，根据延迟槽标记更新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epc_o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（延迟槽指令异常时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EPC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减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4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），置位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status_o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EXL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字段标记异常态，在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cause_o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ExcCode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字段标记具体异常类型；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127000" algn="just" defTabSz="266700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异常返回（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eret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指令）时清零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status_o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EXL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字段，退出异常态；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36880" y="487045"/>
            <a:ext cx="5810885" cy="6451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408305" algn="just" defTabSz="266700" fontAlgn="base" latinLnBrk="1">
              <a:spcBef>
                <a:spcPct val="0"/>
              </a:spcBef>
              <a:spcAft>
                <a:spcPct val="0"/>
              </a:spcAft>
            </a:pPr>
            <a:r>
              <a:rPr lang="zh-CN" sz="3600" b="1">
                <a:latin typeface="Times New Roman" panose="02020603050405020304"/>
                <a:ea typeface="宋体" panose="02010600030101010101" pitchFamily="2" charset="-122"/>
              </a:rPr>
              <a:t>中断异常处理方式</a:t>
            </a:r>
            <a:endParaRPr lang="zh-CN" sz="3600" b="1"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03250" y="2487295"/>
            <a:ext cx="4420235" cy="1256665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 fontScale="25000"/>
          </a:bodyPr>
          <a:lstStyle>
            <a:lvl1pPr marL="0" indent="0" algn="l" defTabSz="914400" rtl="0" eaLnBrk="1" fontAlgn="auto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strike="noStrike" kern="1200" cap="none" spc="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1000"/>
              </a:lnSpc>
            </a:pPr>
            <a:r>
              <a:rPr lang="en-US" altLang="zh-CN" sz="67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OpenMIPS </a:t>
            </a:r>
            <a:r>
              <a:rPr lang="zh-CN" altLang="en-US" sz="67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异常处理的实现思路是：在流水线的各个阶段收集异常信息，并传递到流水线访存阶段，在访存阶段统一处理异常信息。流水线各个阶段需要收集的异常信息如下：</a:t>
            </a:r>
            <a:endParaRPr lang="zh-CN" altLang="en-US" sz="67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文本占位符 5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03250" y="3973830"/>
            <a:ext cx="4420235" cy="1765300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 fontScale="90000"/>
          </a:bodyPr>
          <a:lstStyle>
            <a:lvl1pPr marL="0" indent="0" algn="l" defTabSz="914400" rtl="0" eaLnBrk="1" fontAlgn="auto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u="none" strike="noStrike" kern="1200" cap="none" spc="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5000"/>
              </a:lnSpc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在流水线译码阶段判断是否是系统调用异常、是否是返回指令、无效指令。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在流水线执行阶段判断是否有自陷异常、溢出异常。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在流水线访存阶段检查是否有中断发生。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17600" y="15474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r>
              <a:rPr lang="zh-CN" altLang="en-US"/>
              <a:t>、收集异常</a:t>
            </a:r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rcRect b="17568"/>
          <a:stretch>
            <a:fillRect/>
          </a:stretch>
        </p:blipFill>
        <p:spPr>
          <a:xfrm>
            <a:off x="3209290" y="1327785"/>
            <a:ext cx="8708390" cy="92964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5268595" y="868680"/>
            <a:ext cx="66497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eg</a:t>
            </a:r>
            <a:r>
              <a:rPr lang="zh-CN" altLang="en-US"/>
              <a:t>：</a:t>
            </a:r>
            <a:r>
              <a:rPr lang="en-US" altLang="zh-CN"/>
              <a:t>ID</a:t>
            </a:r>
            <a:r>
              <a:rPr lang="zh-CN" altLang="en-US"/>
              <a:t>中通过译码可以直接判断某些指令为调用或自陷指令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268595" y="3500120"/>
            <a:ext cx="626745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eg</a:t>
            </a:r>
            <a:r>
              <a:rPr lang="zh-CN" altLang="en-US"/>
              <a:t>：</a:t>
            </a:r>
            <a:r>
              <a:rPr lang="en-US" altLang="zh-CN"/>
              <a:t>EX</a:t>
            </a:r>
            <a:r>
              <a:rPr lang="zh-CN" altLang="en-US"/>
              <a:t>中沿用</a:t>
            </a:r>
            <a:r>
              <a:rPr lang="en-US" altLang="zh-CN"/>
              <a:t>ID</a:t>
            </a:r>
            <a:r>
              <a:rPr lang="zh-CN" altLang="en-US"/>
              <a:t>发现的异常并添加执行运算时可能产生的溢出等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assign excepttype_o = {excepttype_i[31:12],ovassert,trapassert,excepttype_i[9:8],8'h00};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8128000" y="536956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ovassert</a:t>
            </a:r>
            <a:r>
              <a:rPr lang="zh-CN" altLang="en-US"/>
              <a:t>为溢出信号</a:t>
            </a:r>
            <a:endParaRPr lang="zh-CN" altLang="en-US"/>
          </a:p>
          <a:p>
            <a:r>
              <a:rPr lang="en-US" altLang="zh-CN"/>
              <a:t>trapassert</a:t>
            </a:r>
            <a:r>
              <a:rPr lang="zh-CN" altLang="en-US"/>
              <a:t>为比较判断异常信号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36880" y="487045"/>
            <a:ext cx="5810885" cy="6451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408305" algn="just" defTabSz="266700" fontAlgn="base" latinLnBrk="1">
              <a:spcBef>
                <a:spcPct val="0"/>
              </a:spcBef>
              <a:spcAft>
                <a:spcPct val="0"/>
              </a:spcAft>
            </a:pPr>
            <a:r>
              <a:rPr lang="zh-CN" sz="3600" b="1">
                <a:latin typeface="Times New Roman" panose="02020603050405020304"/>
                <a:ea typeface="宋体" panose="02010600030101010101" pitchFamily="2" charset="-122"/>
              </a:rPr>
              <a:t>中断异常处理方式</a:t>
            </a:r>
            <a:endParaRPr lang="zh-CN" sz="3600" b="1"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10565" y="1952625"/>
            <a:ext cx="55372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</a:t>
            </a:r>
            <a:r>
              <a:rPr lang="zh-CN" altLang="en-US"/>
              <a:t>、中断异常标志位经过</a:t>
            </a:r>
            <a:r>
              <a:rPr lang="en-US" altLang="zh-CN"/>
              <a:t>ID</a:t>
            </a:r>
            <a:r>
              <a:rPr lang="zh-CN" altLang="en-US"/>
              <a:t>，</a:t>
            </a:r>
            <a:r>
              <a:rPr lang="en-US" altLang="zh-CN"/>
              <a:t>EX</a:t>
            </a:r>
            <a:r>
              <a:rPr lang="zh-CN" altLang="en-US"/>
              <a:t>，</a:t>
            </a:r>
            <a:r>
              <a:rPr lang="en-US" altLang="zh-CN"/>
              <a:t>MEM</a:t>
            </a:r>
            <a:endParaRPr lang="en-US" altLang="zh-CN"/>
          </a:p>
          <a:p>
            <a:r>
              <a:rPr lang="zh-CN" altLang="en-US"/>
              <a:t>收集足够异常后发送到：</a:t>
            </a:r>
            <a:endParaRPr lang="zh-CN" altLang="en-US"/>
          </a:p>
          <a:p>
            <a:r>
              <a:rPr lang="en-US" altLang="zh-CN"/>
              <a:t>Ctrl</a:t>
            </a:r>
            <a:r>
              <a:rPr lang="zh-CN" altLang="en-US"/>
              <a:t>进行处理判断，是否处理，并将跳转地址送到</a:t>
            </a:r>
            <a:r>
              <a:rPr lang="en-US" altLang="zh-CN"/>
              <a:t>PC</a:t>
            </a:r>
            <a:endParaRPr lang="en-US" altLang="zh-CN"/>
          </a:p>
          <a:p>
            <a:r>
              <a:rPr lang="en-US" altLang="zh-CN"/>
              <a:t>CP0</a:t>
            </a:r>
            <a:r>
              <a:rPr lang="zh-CN" altLang="en-US"/>
              <a:t>协处理器寄存器，标记异常态，并获取</a:t>
            </a:r>
            <a:r>
              <a:rPr lang="en-US" altLang="zh-CN"/>
              <a:t>ID</a:t>
            </a:r>
            <a:r>
              <a:rPr lang="zh-CN" altLang="en-US"/>
              <a:t>，</a:t>
            </a:r>
            <a:r>
              <a:rPr lang="en-US" altLang="zh-CN"/>
              <a:t>EX</a:t>
            </a:r>
            <a:r>
              <a:rPr lang="zh-CN" altLang="en-US"/>
              <a:t>，</a:t>
            </a:r>
            <a:r>
              <a:rPr lang="en-US" altLang="zh-CN"/>
              <a:t>MEM</a:t>
            </a:r>
            <a:r>
              <a:rPr lang="zh-CN" altLang="en-US"/>
              <a:t>传来的原</a:t>
            </a:r>
            <a:r>
              <a:rPr lang="en-US" altLang="zh-CN"/>
              <a:t>PC</a:t>
            </a:r>
            <a:r>
              <a:rPr lang="zh-CN" altLang="en-US"/>
              <a:t>，保存现场，以便中断处理后返回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4380" y="652780"/>
            <a:ext cx="4721860" cy="587311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10565" y="4249420"/>
            <a:ext cx="55372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</a:t>
            </a:r>
            <a:r>
              <a:rPr lang="zh-CN" altLang="en-US"/>
              <a:t>、处理完成后通过</a:t>
            </a:r>
            <a:r>
              <a:rPr lang="en-US" altLang="zh-CN"/>
              <a:t>eret</a:t>
            </a:r>
            <a:r>
              <a:rPr lang="zh-CN" altLang="en-US"/>
              <a:t>指令返回现场</a:t>
            </a:r>
            <a:r>
              <a:rPr lang="en-US" altLang="zh-CN"/>
              <a:t>PC</a:t>
            </a:r>
            <a:r>
              <a:rPr lang="zh-CN" altLang="en-US"/>
              <a:t>值，即</a:t>
            </a:r>
            <a:r>
              <a:rPr lang="en-US" altLang="zh-CN"/>
              <a:t>CP0 </a:t>
            </a:r>
            <a:r>
              <a:rPr lang="zh-CN" altLang="en-US"/>
              <a:t>保存的</a:t>
            </a:r>
            <a:r>
              <a:rPr lang="en-US" altLang="zh-CN"/>
              <a:t>EPC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36880" y="486728"/>
            <a:ext cx="5080000" cy="645160"/>
          </a:xfrm>
          <a:prstGeom prst="rect">
            <a:avLst/>
          </a:prstGeom>
        </p:spPr>
        <p:txBody>
          <a:bodyPr>
            <a:spAutoFit/>
          </a:bodyPr>
          <a:p>
            <a:pPr marL="0" indent="408305" algn="just" defTabSz="266700" fontAlgn="base" latinLnBrk="1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latin typeface="Times New Roman" panose="02020603050405020304"/>
                <a:ea typeface="宋体" panose="02010600030101010101" pitchFamily="2" charset="-122"/>
              </a:rPr>
              <a:t>流水线冲突</a:t>
            </a:r>
            <a:r>
              <a:rPr lang="en-US" altLang="zh-CN" sz="3600" b="1">
                <a:latin typeface="Times New Roman" panose="02020603050405020304"/>
                <a:ea typeface="宋体" panose="02010600030101010101" pitchFamily="2" charset="-122"/>
              </a:rPr>
              <a:t>-</a:t>
            </a:r>
            <a:r>
              <a:rPr lang="zh-CN" altLang="en-US" sz="3600" b="1">
                <a:latin typeface="Times New Roman" panose="02020603050405020304"/>
                <a:ea typeface="宋体" panose="02010600030101010101" pitchFamily="2" charset="-122"/>
              </a:rPr>
              <a:t>数据相关</a:t>
            </a:r>
            <a:endParaRPr lang="zh-CN" altLang="en-US" sz="3600" b="1"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398119" y="1923650"/>
            <a:ext cx="4724400" cy="406400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fontAlgn="auto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strike="noStrike" kern="1200" cap="none" spc="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1000"/>
              </a:lnSpc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解决数据冒险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文本占位符 5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509000" y="2634615"/>
            <a:ext cx="3292475" cy="2743200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 lnSpcReduction="10000"/>
          </a:bodyPr>
          <a:lstStyle>
            <a:lvl1pPr marL="0" indent="0" algn="l" defTabSz="914400" rtl="0" eaLnBrk="1" fontAlgn="auto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u="none" strike="noStrike" kern="1200" cap="none" spc="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457200" algn="l">
              <a:lnSpc>
                <a:spcPct val="125000"/>
              </a:lnSpc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数据冒险是计算机流水线中常见的问题，数据前推机制的核心就是解决这一问题。它能确保指令执行时获取到正确的数据，避免因数据未及时写入而产生错误结果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实现原理：</a:t>
            </a:r>
            <a:b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b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将后续阶段（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EX/MEM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）已计算出但未写回的结果，直接转发到当前指令需要的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ALU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输入端。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910" y="2554605"/>
            <a:ext cx="5875655" cy="386905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710565" y="1684655"/>
            <a:ext cx="73329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eg</a:t>
            </a:r>
            <a:r>
              <a:rPr lang="zh-CN" altLang="en-US"/>
              <a:t>：</a:t>
            </a:r>
            <a:r>
              <a:rPr lang="en-US" altLang="zh-CN"/>
              <a:t>ID</a:t>
            </a:r>
            <a:r>
              <a:rPr lang="zh-CN" altLang="en-US"/>
              <a:t>中判断当前读寄存器和正在写回的寄存器号是否一致，若一致则无需去寄存器堆获取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36880" y="487045"/>
            <a:ext cx="8127365" cy="6451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408305" algn="just" defTabSz="266700" fontAlgn="base" latinLnBrk="1">
              <a:buClrTx/>
              <a:buSzTx/>
              <a:buFontTx/>
            </a:pPr>
            <a:r>
              <a:rPr lang="zh-CN" altLang="en-US" sz="3600" b="1">
                <a:latin typeface="Times New Roman" panose="02020603050405020304"/>
                <a:ea typeface="宋体" panose="02010600030101010101" pitchFamily="2" charset="-122"/>
              </a:rPr>
              <a:t>流水线冲突</a:t>
            </a:r>
            <a:r>
              <a:rPr lang="en-US" altLang="zh-CN" sz="3600" b="1">
                <a:latin typeface="Times New Roman" panose="02020603050405020304"/>
                <a:ea typeface="宋体" panose="02010600030101010101" pitchFamily="2" charset="-122"/>
              </a:rPr>
              <a:t>-</a:t>
            </a:r>
            <a:r>
              <a:rPr lang="zh-CN" altLang="en-US" sz="3600" b="1">
                <a:latin typeface="Times New Roman" panose="02020603050405020304"/>
                <a:ea typeface="宋体" panose="02010600030101010101" pitchFamily="2" charset="-122"/>
              </a:rPr>
              <a:t>指令</a:t>
            </a:r>
            <a:r>
              <a:rPr lang="zh-CN" altLang="en-US" sz="3600" b="1">
                <a:latin typeface="Times New Roman" panose="02020603050405020304"/>
                <a:ea typeface="宋体" panose="02010600030101010101" pitchFamily="2" charset="-122"/>
                <a:sym typeface="+mn-ea"/>
              </a:rPr>
              <a:t>延迟槽与流水线暂停</a:t>
            </a:r>
            <a:endParaRPr lang="zh-CN" altLang="en-US" sz="3600" b="1"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7087188" y="1836868"/>
            <a:ext cx="4724400" cy="406400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fontAlgn="auto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strike="noStrike" kern="1200" cap="none" spc="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1000"/>
              </a:lnSpc>
            </a:pP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分支/跳转指令特性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087188" y="2344868"/>
            <a:ext cx="4724400" cy="914400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fontAlgn="auto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u="none" strike="noStrike" kern="1200" cap="none" spc="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5000"/>
              </a:lnSpc>
            </a:pP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分支或跳转指令后的下一条指令为延迟槽指令，该指令无论分支或跳转是否成功都必定会执行，这一特性可有效利用流水线周期。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7138029" y="4305531"/>
            <a:ext cx="4724400" cy="406400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fontAlgn="auto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strike="noStrike" kern="1200" cap="none" spc="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1000"/>
              </a:lnSpc>
            </a:pP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缓解控制冒险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7138029" y="4813531"/>
            <a:ext cx="4724400" cy="914400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fontAlgn="auto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u="none" strike="noStrike" kern="1200" cap="none" spc="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5000"/>
              </a:lnSpc>
            </a:pP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通过延迟槽指令的执行，能在一定程度上缓解流水线中的控制冒险，使流水线的运行更加顺畅，提高计算机系统的性能。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pic>
        <p:nvPicPr>
          <p:cNvPr id="15" name="图片 14" descr="post_object_image_100903994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712" y="1522656"/>
            <a:ext cx="6394833" cy="2298912"/>
          </a:xfrm>
          <a:prstGeom prst="rect">
            <a:avLst/>
          </a:prstGeom>
        </p:spPr>
      </p:pic>
      <p:pic>
        <p:nvPicPr>
          <p:cNvPr id="17" name="图片 16" descr="post_object_image_182707945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665" y="3966915"/>
            <a:ext cx="6459612" cy="2306537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36880" y="487045"/>
            <a:ext cx="8127365" cy="6451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408305" algn="just" defTabSz="266700" fontAlgn="base" latinLnBrk="1">
              <a:buClrTx/>
              <a:buSzTx/>
              <a:buFontTx/>
            </a:pPr>
            <a:r>
              <a:rPr lang="zh-CN" altLang="en-US" sz="3600" b="1">
                <a:latin typeface="Times New Roman" panose="02020603050405020304"/>
                <a:ea typeface="宋体" panose="02010600030101010101" pitchFamily="2" charset="-122"/>
              </a:rPr>
              <a:t>流水线冲突</a:t>
            </a:r>
            <a:r>
              <a:rPr lang="en-US" altLang="zh-CN" sz="3600" b="1">
                <a:latin typeface="Times New Roman" panose="02020603050405020304"/>
                <a:ea typeface="宋体" panose="02010600030101010101" pitchFamily="2" charset="-122"/>
              </a:rPr>
              <a:t>-</a:t>
            </a:r>
            <a:r>
              <a:rPr lang="zh-CN" altLang="en-US" sz="3600" b="1">
                <a:latin typeface="Times New Roman" panose="02020603050405020304"/>
                <a:ea typeface="宋体" panose="02010600030101010101" pitchFamily="2" charset="-122"/>
              </a:rPr>
              <a:t>指令</a:t>
            </a:r>
            <a:r>
              <a:rPr lang="zh-CN" altLang="en-US" sz="3600" b="1">
                <a:latin typeface="Times New Roman" panose="02020603050405020304"/>
                <a:ea typeface="宋体" panose="02010600030101010101" pitchFamily="2" charset="-122"/>
                <a:sym typeface="+mn-ea"/>
              </a:rPr>
              <a:t>延迟槽与流水线暂停</a:t>
            </a:r>
            <a:endParaRPr lang="zh-CN" altLang="en-US" sz="3600" b="1">
              <a:latin typeface="Times New Roman" panose="02020603050405020304"/>
              <a:ea typeface="宋体" panose="02010600030101010101" pitchFamily="2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8730" y="4527550"/>
            <a:ext cx="5324475" cy="202882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7655560" y="2341880"/>
            <a:ext cx="406400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</a:t>
            </a:r>
            <a:r>
              <a:rPr lang="en-US" altLang="zh-CN"/>
              <a:t>ID</a:t>
            </a:r>
            <a:r>
              <a:rPr lang="zh-CN" altLang="en-US"/>
              <a:t>中判断为转移指令后，进入独有的运算大类，其输出的</a:t>
            </a:r>
            <a:r>
              <a:rPr lang="en-US" altLang="zh-CN"/>
              <a:t>link_addr</a:t>
            </a:r>
            <a:r>
              <a:rPr lang="zh-CN" altLang="en-US"/>
              <a:t>会经过</a:t>
            </a:r>
            <a:r>
              <a:rPr lang="en-US" altLang="zh-CN"/>
              <a:t>EX</a:t>
            </a:r>
            <a:r>
              <a:rPr lang="zh-CN" altLang="en-US"/>
              <a:t>统一输出，以便后续模块遇到在跳转指令译码期间已经被取指的指令（已经放在延迟槽内的指令）</a:t>
            </a:r>
            <a:endParaRPr lang="zh-CN" altLang="en-US"/>
          </a:p>
          <a:p>
            <a:r>
              <a:rPr lang="zh-CN" altLang="en-US"/>
              <a:t>让其继续执行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应用情况特殊，现已基本淘汰</a:t>
            </a:r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730" y="1427480"/>
            <a:ext cx="5753100" cy="260032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36880" y="486728"/>
            <a:ext cx="5080000" cy="645160"/>
          </a:xfrm>
          <a:prstGeom prst="rect">
            <a:avLst/>
          </a:prstGeom>
        </p:spPr>
        <p:txBody>
          <a:bodyPr>
            <a:spAutoFit/>
          </a:bodyPr>
          <a:p>
            <a:pPr marL="0" indent="408305" algn="just" defTabSz="266700" fontAlgn="base" latinLnBrk="1">
              <a:spcBef>
                <a:spcPct val="0"/>
              </a:spcBef>
              <a:spcAft>
                <a:spcPct val="0"/>
              </a:spcAft>
            </a:pPr>
            <a:r>
              <a:rPr lang="en-US" altLang="zh-CN" sz="3600" b="1">
                <a:latin typeface="Times New Roman" panose="02020603050405020304"/>
                <a:ea typeface="宋体" panose="02010600030101010101" pitchFamily="2" charset="-122"/>
              </a:rPr>
              <a:t>IO </a:t>
            </a:r>
            <a:r>
              <a:rPr lang="zh-CN" altLang="en-US" sz="3600" b="1">
                <a:latin typeface="Times New Roman" panose="02020603050405020304"/>
                <a:ea typeface="宋体" panose="02010600030101010101" pitchFamily="2" charset="-122"/>
              </a:rPr>
              <a:t>模块</a:t>
            </a:r>
            <a:endParaRPr lang="zh-CN" altLang="en-US" sz="3600" b="1">
              <a:latin typeface="Times New Roman" panose="02020603050405020304"/>
              <a:ea typeface="宋体" panose="02010600030101010101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7575" y="0"/>
            <a:ext cx="3767455" cy="2803525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2"/>
          <a:stretch>
            <a:fillRect/>
          </a:stretch>
        </p:blipFill>
        <p:spPr>
          <a:xfrm rot="16200000">
            <a:off x="1093470" y="963295"/>
            <a:ext cx="4338320" cy="607314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402070" y="2926715"/>
            <a:ext cx="5869305" cy="4246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    </a:t>
            </a:r>
            <a:r>
              <a:rPr lang="zh-CN" altLang="en-US"/>
              <a:t>预备功能设计</a:t>
            </a:r>
            <a:endParaRPr lang="zh-CN" altLang="en-US"/>
          </a:p>
          <a:p>
            <a:r>
              <a:rPr lang="en-US" altLang="zh-CN"/>
              <a:t>    </a:t>
            </a:r>
            <a:r>
              <a:rPr lang="zh-CN" altLang="en-US"/>
              <a:t>由于</a:t>
            </a:r>
            <a:r>
              <a:rPr lang="en-US" altLang="zh-CN"/>
              <a:t>basys3</a:t>
            </a:r>
            <a:r>
              <a:rPr lang="zh-CN" altLang="en-US"/>
              <a:t>开发板可视化输入输出方式简单有</a:t>
            </a:r>
            <a:r>
              <a:rPr lang="en-US" altLang="zh-CN"/>
              <a:t>4</a:t>
            </a:r>
            <a:r>
              <a:rPr lang="zh-CN" altLang="en-US"/>
              <a:t>种</a:t>
            </a:r>
            <a:endParaRPr lang="zh-CN" altLang="en-US"/>
          </a:p>
          <a:p>
            <a:r>
              <a:rPr lang="en-US" altLang="zh-CN"/>
              <a:t>    </a:t>
            </a:r>
            <a:r>
              <a:rPr lang="zh-CN" altLang="en-US"/>
              <a:t>输入：</a:t>
            </a:r>
            <a:r>
              <a:rPr lang="en-US" altLang="zh-CN"/>
              <a:t>16</a:t>
            </a:r>
            <a:r>
              <a:rPr lang="zh-CN" altLang="en-US"/>
              <a:t>位拨码开关，</a:t>
            </a:r>
            <a:r>
              <a:rPr lang="en-US" altLang="zh-CN"/>
              <a:t>5</a:t>
            </a:r>
            <a:r>
              <a:rPr lang="zh-CN" altLang="en-US"/>
              <a:t>个按键</a:t>
            </a:r>
            <a:endParaRPr lang="zh-CN" altLang="en-US"/>
          </a:p>
          <a:p>
            <a:r>
              <a:rPr lang="en-US" altLang="zh-CN"/>
              <a:t>    </a:t>
            </a:r>
            <a:r>
              <a:rPr lang="zh-CN" altLang="en-US"/>
              <a:t>输出：</a:t>
            </a:r>
            <a:r>
              <a:rPr lang="en-US" altLang="zh-CN"/>
              <a:t>4</a:t>
            </a:r>
            <a:r>
              <a:rPr lang="zh-CN" altLang="en-US"/>
              <a:t>位</a:t>
            </a:r>
            <a:r>
              <a:rPr lang="en-US" altLang="zh-CN"/>
              <a:t>7</a:t>
            </a:r>
            <a:r>
              <a:rPr lang="zh-CN" altLang="en-US"/>
              <a:t>段数码管，</a:t>
            </a:r>
            <a:r>
              <a:rPr lang="en-US" altLang="zh-CN"/>
              <a:t>16</a:t>
            </a:r>
            <a:r>
              <a:rPr lang="zh-CN" altLang="en-US"/>
              <a:t>位</a:t>
            </a:r>
            <a:r>
              <a:rPr lang="en-US" altLang="zh-CN"/>
              <a:t>LED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    </a:t>
            </a:r>
            <a:r>
              <a:rPr lang="zh-CN" altLang="en-US"/>
              <a:t>关于</a:t>
            </a:r>
            <a:r>
              <a:rPr lang="en-US" altLang="zh-CN"/>
              <a:t>MIPSCPU</a:t>
            </a:r>
            <a:r>
              <a:rPr lang="zh-CN" altLang="en-US"/>
              <a:t>的指令测试，我们需要看到的信息大致有：</a:t>
            </a:r>
            <a:endParaRPr lang="zh-CN" altLang="en-US"/>
          </a:p>
          <a:p>
            <a:r>
              <a:rPr lang="en-US" altLang="zh-CN"/>
              <a:t>    </a:t>
            </a:r>
            <a:r>
              <a:rPr lang="zh-CN" altLang="en-US"/>
              <a:t>当前执行的指令是什么（简化为当前执行的是第几条指令）</a:t>
            </a:r>
            <a:endParaRPr lang="zh-CN" altLang="en-US"/>
          </a:p>
          <a:p>
            <a:r>
              <a:rPr lang="en-US" altLang="zh-CN"/>
              <a:t>    </a:t>
            </a:r>
            <a:r>
              <a:rPr lang="zh-CN" altLang="en-US"/>
              <a:t>查看寄存器的值（即可以查看寄存器内的结果是否正确）</a:t>
            </a:r>
            <a:endParaRPr lang="zh-CN" altLang="en-US"/>
          </a:p>
          <a:p>
            <a:r>
              <a:rPr lang="en-US" altLang="zh-CN"/>
              <a:t>    </a:t>
            </a:r>
            <a:r>
              <a:rPr lang="zh-CN" altLang="en-US"/>
              <a:t>可以断步查询，即单步执行，需要用到中断或者流水线断流等可能的技术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   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36880" y="486728"/>
            <a:ext cx="5080000" cy="645160"/>
          </a:xfrm>
          <a:prstGeom prst="rect">
            <a:avLst/>
          </a:prstGeom>
        </p:spPr>
        <p:txBody>
          <a:bodyPr>
            <a:spAutoFit/>
          </a:bodyPr>
          <a:p>
            <a:pPr marL="0" indent="408305" algn="just" defTabSz="266700" fontAlgn="base" latinLnBrk="1">
              <a:spcBef>
                <a:spcPct val="0"/>
              </a:spcBef>
              <a:spcAft>
                <a:spcPct val="0"/>
              </a:spcAft>
            </a:pPr>
            <a:r>
              <a:rPr lang="en-US" altLang="zh-CN" sz="3600" b="1">
                <a:latin typeface="Times New Roman" panose="02020603050405020304"/>
                <a:ea typeface="宋体" panose="02010600030101010101" pitchFamily="2" charset="-122"/>
              </a:rPr>
              <a:t>IO </a:t>
            </a:r>
            <a:r>
              <a:rPr lang="zh-CN" altLang="en-US" sz="3600" b="1">
                <a:latin typeface="Times New Roman" panose="02020603050405020304"/>
                <a:ea typeface="宋体" panose="02010600030101010101" pitchFamily="2" charset="-122"/>
              </a:rPr>
              <a:t>模块</a:t>
            </a:r>
            <a:endParaRPr lang="zh-CN" altLang="en-US" sz="3600" b="1"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36880" y="1231900"/>
            <a:ext cx="11217275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控制方法如下：</a:t>
            </a:r>
            <a:endParaRPr lang="zh-CN" altLang="en-US"/>
          </a:p>
          <a:p>
            <a:r>
              <a:rPr lang="en-US" altLang="zh-CN">
                <a:sym typeface="+mn-ea"/>
              </a:rPr>
              <a:t>    SW[15]</a:t>
            </a:r>
            <a:r>
              <a:rPr lang="zh-CN" altLang="en-US">
                <a:sym typeface="+mn-ea"/>
              </a:rPr>
              <a:t>控制复位信号，高电平有效</a:t>
            </a:r>
            <a:endParaRPr lang="zh-CN" altLang="en-US"/>
          </a:p>
          <a:p>
            <a:r>
              <a:rPr lang="en-US" altLang="zh-CN">
                <a:sym typeface="+mn-ea"/>
              </a:rPr>
              <a:t>    SW[14]</a:t>
            </a:r>
            <a:r>
              <a:rPr lang="zh-CN" altLang="en-US">
                <a:sym typeface="+mn-ea"/>
              </a:rPr>
              <a:t>是断步</a:t>
            </a:r>
            <a:r>
              <a:rPr lang="en-US" altLang="zh-CN">
                <a:sym typeface="+mn-ea"/>
              </a:rPr>
              <a:t>Debug</a:t>
            </a:r>
            <a:r>
              <a:rPr lang="zh-CN" altLang="en-US">
                <a:sym typeface="+mn-ea"/>
              </a:rPr>
              <a:t>模式，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为断步模式，在此情况下，按键上</a:t>
            </a:r>
            <a:r>
              <a:rPr lang="en-US" altLang="zh-CN">
                <a:sym typeface="+mn-ea"/>
              </a:rPr>
              <a:t>key[0]</a:t>
            </a:r>
            <a:r>
              <a:rPr lang="zh-CN" altLang="en-US">
                <a:sym typeface="+mn-ea"/>
              </a:rPr>
              <a:t>按下一次则产生一个上升沿</a:t>
            </a:r>
            <a:endParaRPr lang="zh-CN" altLang="en-US"/>
          </a:p>
          <a:p>
            <a:r>
              <a:rPr lang="en-US" altLang="zh-CN">
                <a:sym typeface="+mn-ea"/>
              </a:rPr>
              <a:t>    SW[13]</a:t>
            </a:r>
            <a:r>
              <a:rPr lang="zh-CN" altLang="en-US">
                <a:sym typeface="+mn-ea"/>
              </a:rPr>
              <a:t>是高低位选择信号，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为高位，</a:t>
            </a:r>
            <a:r>
              <a:rPr lang="en-US" altLang="zh-CN">
                <a:sym typeface="+mn-ea"/>
              </a:rPr>
              <a:t>0</a:t>
            </a:r>
            <a:r>
              <a:rPr lang="zh-CN" altLang="en-US">
                <a:sym typeface="+mn-ea"/>
              </a:rPr>
              <a:t>为低位</a:t>
            </a:r>
            <a:endParaRPr lang="zh-CN" altLang="en-US"/>
          </a:p>
          <a:p>
            <a:r>
              <a:rPr lang="en-US" altLang="zh-CN">
                <a:sym typeface="+mn-ea"/>
              </a:rPr>
              <a:t>    SW[12:11]</a:t>
            </a:r>
            <a:r>
              <a:rPr lang="zh-CN" altLang="en-US">
                <a:sym typeface="+mn-ea"/>
              </a:rPr>
              <a:t>是</a:t>
            </a:r>
            <a:r>
              <a:rPr lang="en-US" altLang="zh-CN">
                <a:sym typeface="+mn-ea"/>
              </a:rPr>
              <a:t>hilo</a:t>
            </a:r>
            <a:r>
              <a:rPr lang="zh-CN" altLang="en-US">
                <a:sym typeface="+mn-ea"/>
              </a:rPr>
              <a:t>寄存器读使能，异或后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为使能，</a:t>
            </a:r>
            <a:r>
              <a:rPr lang="en-US" altLang="zh-CN">
                <a:sym typeface="+mn-ea"/>
              </a:rPr>
              <a:t>0</a:t>
            </a:r>
            <a:r>
              <a:rPr lang="zh-CN" altLang="en-US">
                <a:sym typeface="+mn-ea"/>
              </a:rPr>
              <a:t>为禁止，其中两个都为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时则无效，继续显示通用寄存器的值，</a:t>
            </a:r>
            <a:r>
              <a:rPr lang="en-US" altLang="zh-CN">
                <a:sym typeface="+mn-ea"/>
              </a:rPr>
              <a:t>SW[12]</a:t>
            </a:r>
            <a:r>
              <a:rPr lang="zh-CN" altLang="en-US">
                <a:sym typeface="+mn-ea"/>
              </a:rPr>
              <a:t>为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时显示</a:t>
            </a:r>
            <a:r>
              <a:rPr lang="en-US" altLang="zh-CN">
                <a:sym typeface="+mn-ea"/>
              </a:rPr>
              <a:t>HI</a:t>
            </a:r>
            <a:r>
              <a:rPr lang="zh-CN" altLang="en-US">
                <a:sym typeface="+mn-ea"/>
              </a:rPr>
              <a:t>的值，</a:t>
            </a:r>
            <a:r>
              <a:rPr lang="en-US" altLang="zh-CN">
                <a:sym typeface="+mn-ea"/>
              </a:rPr>
              <a:t>SW[11]</a:t>
            </a:r>
            <a:r>
              <a:rPr lang="zh-CN" altLang="en-US">
                <a:sym typeface="+mn-ea"/>
              </a:rPr>
              <a:t>为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时显示</a:t>
            </a:r>
            <a:r>
              <a:rPr lang="en-US" altLang="zh-CN">
                <a:sym typeface="+mn-ea"/>
              </a:rPr>
              <a:t>LO</a:t>
            </a:r>
            <a:r>
              <a:rPr lang="zh-CN" altLang="en-US">
                <a:sym typeface="+mn-ea"/>
              </a:rPr>
              <a:t>的值</a:t>
            </a:r>
            <a:endParaRPr lang="zh-CN" altLang="en-US"/>
          </a:p>
          <a:p>
            <a:r>
              <a:rPr lang="en-US" altLang="zh-CN">
                <a:sym typeface="+mn-ea"/>
              </a:rPr>
              <a:t>    SW[4:0]</a:t>
            </a:r>
            <a:r>
              <a:rPr lang="zh-CN" altLang="en-US">
                <a:sym typeface="+mn-ea"/>
              </a:rPr>
              <a:t>是输入寄存器号，通过</a:t>
            </a: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位数码管来观察寄存器的低</a:t>
            </a:r>
            <a:r>
              <a:rPr lang="en-US" altLang="zh-CN">
                <a:sym typeface="+mn-ea"/>
              </a:rPr>
              <a:t>16</a:t>
            </a:r>
            <a:r>
              <a:rPr lang="zh-CN" altLang="en-US">
                <a:sym typeface="+mn-ea"/>
              </a:rPr>
              <a:t>位的值，可以通过</a:t>
            </a:r>
            <a:r>
              <a:rPr lang="en-US" altLang="zh-CN">
                <a:sym typeface="+mn-ea"/>
              </a:rPr>
              <a:t>SW[13]</a:t>
            </a:r>
            <a:r>
              <a:rPr lang="zh-CN" altLang="en-US">
                <a:sym typeface="+mn-ea"/>
              </a:rPr>
              <a:t>切换显示的高低位</a:t>
            </a:r>
            <a:endParaRPr lang="zh-CN" altLang="en-US"/>
          </a:p>
          <a:p>
            <a:r>
              <a:rPr lang="en-US" altLang="zh-CN">
                <a:sym typeface="+mn-ea"/>
              </a:rPr>
              <a:t>    LED[15:0]</a:t>
            </a:r>
            <a:r>
              <a:rPr lang="zh-CN" altLang="en-US">
                <a:sym typeface="+mn-ea"/>
              </a:rPr>
              <a:t>是输出当前取指令的条数，即</a:t>
            </a:r>
            <a:r>
              <a:rPr lang="en-US" altLang="zh-CN">
                <a:sym typeface="+mn-ea"/>
              </a:rPr>
              <a:t>pc[17:2]</a:t>
            </a:r>
            <a:endParaRPr lang="en-US" altLang="zh-CN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480" y="4587240"/>
            <a:ext cx="5867400" cy="142875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479040" y="40767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复位实现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36880" y="486728"/>
            <a:ext cx="5080000" cy="645160"/>
          </a:xfrm>
          <a:prstGeom prst="rect">
            <a:avLst/>
          </a:prstGeom>
        </p:spPr>
        <p:txBody>
          <a:bodyPr>
            <a:spAutoFit/>
          </a:bodyPr>
          <a:p>
            <a:pPr marL="0" indent="408305" algn="just" defTabSz="266700" fontAlgn="base" latinLnBrk="1">
              <a:spcBef>
                <a:spcPct val="0"/>
              </a:spcBef>
              <a:spcAft>
                <a:spcPct val="0"/>
              </a:spcAft>
            </a:pPr>
            <a:r>
              <a:rPr lang="en-US" altLang="zh-CN" sz="3600" b="1">
                <a:latin typeface="Times New Roman" panose="02020603050405020304"/>
                <a:ea typeface="宋体" panose="02010600030101010101" pitchFamily="2" charset="-122"/>
              </a:rPr>
              <a:t>IO </a:t>
            </a:r>
            <a:r>
              <a:rPr lang="zh-CN" altLang="en-US" sz="3600" b="1">
                <a:latin typeface="Times New Roman" panose="02020603050405020304"/>
                <a:ea typeface="宋体" panose="02010600030101010101" pitchFamily="2" charset="-122"/>
              </a:rPr>
              <a:t>模块</a:t>
            </a:r>
            <a:endParaRPr lang="zh-CN" altLang="en-US" sz="3600" b="1"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709920" y="774065"/>
            <a:ext cx="4968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寄存器堆与</a:t>
            </a:r>
            <a:r>
              <a:rPr lang="en-US" altLang="zh-CN"/>
              <a:t>HILO</a:t>
            </a:r>
            <a:r>
              <a:rPr lang="zh-CN" altLang="en-US"/>
              <a:t>寄存器以及高低</a:t>
            </a:r>
            <a:r>
              <a:rPr lang="en-US" altLang="zh-CN"/>
              <a:t>16</a:t>
            </a:r>
            <a:r>
              <a:rPr lang="zh-CN" altLang="en-US"/>
              <a:t>位切换实现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015" y="3122295"/>
            <a:ext cx="7458075" cy="29813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460" y="1268730"/>
            <a:ext cx="7324725" cy="516255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234440" y="21824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按键消抖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36880" y="486728"/>
            <a:ext cx="5080000" cy="645160"/>
          </a:xfrm>
          <a:prstGeom prst="rect">
            <a:avLst/>
          </a:prstGeom>
        </p:spPr>
        <p:txBody>
          <a:bodyPr>
            <a:spAutoFit/>
          </a:bodyPr>
          <a:p>
            <a:pPr marL="0" indent="408305" algn="just" defTabSz="266700" fontAlgn="base" latinLnBrk="1">
              <a:spcBef>
                <a:spcPct val="0"/>
              </a:spcBef>
              <a:spcAft>
                <a:spcPct val="0"/>
              </a:spcAft>
            </a:pPr>
            <a:r>
              <a:rPr lang="en-US" altLang="zh-CN" sz="3600" b="1">
                <a:latin typeface="Times New Roman" panose="02020603050405020304"/>
                <a:ea typeface="宋体" panose="02010600030101010101" pitchFamily="2" charset="-122"/>
              </a:rPr>
              <a:t>IO </a:t>
            </a:r>
            <a:r>
              <a:rPr lang="zh-CN" altLang="en-US" sz="3600" b="1">
                <a:latin typeface="Times New Roman" panose="02020603050405020304"/>
                <a:ea typeface="宋体" panose="02010600030101010101" pitchFamily="2" charset="-122"/>
              </a:rPr>
              <a:t>模块</a:t>
            </a:r>
            <a:endParaRPr lang="zh-CN" altLang="en-US" sz="3600" b="1">
              <a:latin typeface="Times New Roman" panose="02020603050405020304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7685" y="768350"/>
            <a:ext cx="8524875" cy="57531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99135" y="2481580"/>
            <a:ext cx="177038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1s</a:t>
            </a:r>
            <a:r>
              <a:rPr lang="zh-CN" altLang="en-US"/>
              <a:t>一周期慢速自动执行时钟与</a:t>
            </a:r>
            <a:endParaRPr lang="zh-CN" altLang="en-US"/>
          </a:p>
          <a:p>
            <a:r>
              <a:rPr lang="zh-CN" altLang="en-US"/>
              <a:t>断步时钟实现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36880" y="486728"/>
            <a:ext cx="5080000" cy="645160"/>
          </a:xfrm>
          <a:prstGeom prst="rect">
            <a:avLst/>
          </a:prstGeom>
        </p:spPr>
        <p:txBody>
          <a:bodyPr>
            <a:spAutoFit/>
          </a:bodyPr>
          <a:p>
            <a:pPr marL="0" indent="408305" algn="just" defTabSz="266700" fontAlgn="base" latinLnBrk="1">
              <a:spcBef>
                <a:spcPct val="0"/>
              </a:spcBef>
              <a:spcAft>
                <a:spcPct val="0"/>
              </a:spcAft>
            </a:pPr>
            <a:r>
              <a:rPr lang="en-US" altLang="zh-CN" sz="3600" b="1">
                <a:latin typeface="Times New Roman" panose="02020603050405020304"/>
                <a:ea typeface="宋体" panose="02010600030101010101" pitchFamily="2" charset="-122"/>
              </a:rPr>
              <a:t>IO </a:t>
            </a:r>
            <a:r>
              <a:rPr lang="zh-CN" altLang="en-US" sz="3600" b="1">
                <a:latin typeface="Times New Roman" panose="02020603050405020304"/>
                <a:ea typeface="宋体" panose="02010600030101010101" pitchFamily="2" charset="-122"/>
              </a:rPr>
              <a:t>模块</a:t>
            </a:r>
            <a:endParaRPr lang="zh-CN" altLang="en-US" sz="3600" b="1">
              <a:latin typeface="Times New Roman" panose="02020603050405020304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2540" y="2464435"/>
            <a:ext cx="5610225" cy="31432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770370" y="18129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数码管显示寄存器数据与</a:t>
            </a:r>
            <a:r>
              <a:rPr lang="en-US" altLang="zh-CN"/>
              <a:t>LED</a:t>
            </a:r>
            <a:r>
              <a:rPr lang="zh-CN" altLang="en-US"/>
              <a:t>显示</a:t>
            </a:r>
            <a:r>
              <a:rPr lang="en-US" altLang="zh-CN"/>
              <a:t>PC</a:t>
            </a:r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60" y="1922145"/>
            <a:ext cx="5962015" cy="409765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553210" y="14446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顶层相连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36880" y="486728"/>
            <a:ext cx="5080000" cy="645160"/>
          </a:xfrm>
          <a:prstGeom prst="rect">
            <a:avLst/>
          </a:prstGeom>
        </p:spPr>
        <p:txBody>
          <a:bodyPr>
            <a:spAutoFit/>
          </a:bodyPr>
          <a:p>
            <a:pPr marL="0" indent="408305" algn="just" defTabSz="266700" fontAlgn="base" latinLnBrk="1">
              <a:spcBef>
                <a:spcPct val="0"/>
              </a:spcBef>
              <a:spcAft>
                <a:spcPct val="0"/>
              </a:spcAft>
            </a:pPr>
            <a:r>
              <a:rPr lang="zh-CN" sz="3600" b="1">
                <a:latin typeface="Times New Roman" panose="02020603050405020304"/>
                <a:ea typeface="宋体" panose="02010600030101010101" pitchFamily="2" charset="-122"/>
              </a:rPr>
              <a:t>下板验证</a:t>
            </a:r>
            <a:endParaRPr lang="zh-CN" sz="3600" b="1">
              <a:latin typeface="Times New Roman" panose="02020603050405020304"/>
              <a:ea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8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正文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9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2983</Words>
  <Application>WPS 演示</Application>
  <PresentationFormat>宽屏</PresentationFormat>
  <Paragraphs>245</Paragraphs>
  <Slides>34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5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Times New Roman</vt:lpstr>
      <vt:lpstr>印品清版宋 斜体</vt:lpstr>
      <vt:lpstr>微软雅黑 Light</vt:lpstr>
      <vt:lpstr>方正坦黑体 简 ExtraBold</vt:lpstr>
      <vt:lpstr>汉仪雅酷黑 85W</vt:lpstr>
      <vt:lpstr>Noto Serif SC Medium</vt:lpstr>
      <vt:lpstr>汉仪汉黑简</vt:lpstr>
      <vt:lpstr>WPS灵秀黑</vt:lpstr>
      <vt:lpstr>方正宝黑体 简 Medium</vt:lpstr>
      <vt:lpstr>标准粗黑</vt:lpstr>
      <vt:lpstr>方正公文小标宋</vt:lpstr>
      <vt:lpstr>方正仿宋_GB2312</vt:lpstr>
      <vt:lpstr>方正颜宋体</vt:lpstr>
      <vt:lpstr>华文中宋</vt:lpstr>
      <vt:lpstr>Symbol</vt:lpstr>
      <vt:lpstr>MiSans Medium</vt:lpstr>
      <vt:lpstr>MiSans Normal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ZLAND</cp:lastModifiedBy>
  <cp:revision>162</cp:revision>
  <dcterms:created xsi:type="dcterms:W3CDTF">2019-06-19T02:08:00Z</dcterms:created>
  <dcterms:modified xsi:type="dcterms:W3CDTF">2026-03-12T12:53:26Z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2052-12.1.0.21541</vt:lpwstr>
  </property>
  <property fmtid="{D5CDD505-2E9C-101B-9397-08002B2CF9AE}" pid="3" name="ICV">
    <vt:lpwstr>AF1E8D6553CD4E559AFB0AD6669E096F_11</vt:lpwstr>
  </property>
</Properties>
</file>